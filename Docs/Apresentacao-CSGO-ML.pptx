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trabalho trata da predição do vencedor de cada round de CS:GO a partir do estado econômico e do armamento das equipes. A proposta central é comparar de forma sistemática diferentes modelos de Machine Learning clássico sobre um mesmo pipeline reproduzível. Todo o experimento pode ser reexecutado no Google Colab com um único comando.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apresentação está organizada em três blocos. Primeiro, o problema e a exploração dos dados. Depois, todo o pré-processamento e a construção das features. Por fim, a modelagem, as métricas e os resultados comparativos. Há um slide de transição antes de cada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Começamos pela parte um: o problema que queremos resolver, o contexto do jogo e o que a exploração dos dados nos revelou.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CS:GO é um jogo competitivo cinco contra cinco, com dois lados: Counter-Terrorists e Terrorists. A unidade de análise do trabalho é o round. A cada round, uma economia virtual define o que cada time pode comprar — rifles, AWP, colete e granadas. Hoje, boa parte dessas decisões táticas é tomada de forma subjetiva, sem apoio quantitativo.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Formalizamos o problema de duas maneiras. A tarefa principal é uma classificação binária: dado o vetor de features X com o estado do round, prever o vencedor — codificamos T vence como um e CT vence como zero. Como tarefa complementar, tratamos uma regressão sobre a diferença de dinheiro entre os times, money_diff, um valor contínuo em dólares.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hipótese de partida é simples: se apenas o dinheiro decidisse o round, a heurística time com mais dinheiro vence seria suficiente — mas nos dados ela acerta só cerca de sessenta e meio por cento. A aposta é que o Machine Learning, integrando dezenas de variáveis e relações não lineares, supera essa heurística. Os dados vêm do Kaggle, originados do Skybox AI Challenge, com cerca de setecentas demos profissionais de 2019 e 2020.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exploração mostra classes bem equilibradas — cerca de cinquenta e um por cento de vitórias do T contra quarenta e nove do CT. A economia correlaciona com a vitória, mas não a determina sozinha; mapa, presença de AWP, bomba plantada e o buy tier também influenciam. O ponto crítico é o data leakage: como há vários snapshots por round, usar instantes avançados vazaria informação sobre o desfecho — por isso usamos apenas o início do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já foi abordado por outros. O Skybox AI Challenge originou os dados e o Lillelund os tornou públicos no Kaggle. Hiemstra aplicou uma abordagem Bayesiana sobre o mesmo CSV, um método diferente do nosso. Projetos do GitHub, como os de Ghosh e o CSGOPredictor, usaram Regressão Logística e Random Forest. Nosso posicionamento é a comparação sistemática de modelos clássicos sobre um pipeline reproduzível.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dois: como os dados brutos foram transformados numa matriz de features adequada ao scikit-learn, evitando vazamento e ruído.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do pré-processamento é transformar snapshots brutos numa matriz limpa e evitar o vazamento temporal. Aplicamos quatro filtros: manter apenas o início do round, com pelo menos cento e cinquenta segundos restantes; exigir os cinco jogadores vivos de cada lado, garantindo um snapshot cinco contra cinco; e excluir o mapa de_cache, raro demais. O resultado leva a base de cento e vinte e dois mil para trinta e três mil linhas de modelagem.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engenharia de features cria variáveis derivadas mais informativas. Das econômicas, money_diff e money_ratio. Do estado de jogo, as diferenças de vida, colete e jogadores vivos. Do armamento, a contagem de rifles por lado e indicadores binários de AWP. E o buy tier, categorizando a compra em força, eco, meia, cheia ou mista a partir do dinheiro médio por jogador.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o fluxo é encapsulado num pipeline do scikit-learn. As features numéricas passam por StandardScaler — essencial para KNN e SVM, que dependem de distância — e as categóricas, mapa e buy tier, por OneHotEncoder. Em seguida, dividimos em oitenta por cento treino e vinte por cento teste, com estratificação na classificação. Os hiperparâmetros são ajustados por GridSearchCV com validação cruzada de três folds, otimizando F1 na classificação e RMSE na regressão.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três: os modelos avaliados, suas fundamentações teóricas, as métricas, os resultados comparativos e a conclusão.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baseline é a Regressão Logística, um modelo linear probabilístico e interpretável que assume relação log-linear entre features e log-odds — atinge F1 de zero vírgula setecentos e setenta e um. A SVM com kernel RBF busca o hiperplano de margem máxima e usa o kernel para capturar não linearidades; pelo custo computacional, foi treinada numa subamostra de seis mil exemplos, com F1 de zero vírgula setecentos e oitenta e quatro. Ambos ficam na mesma faixa, em torno de zero vírgula oitenta e oito de ROC-AUC.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KNN, com K igual a cinco escolhido pela busca em grade e features padronizadas, classifica pelo voto dos vizinhos mais próximos por distância euclidiana. Ele ficou em segundo lugar — F1 de zero vírgula oitenta e seis e ROC-AUC de zero vírgula noventa e quatro, bem acima de Regressão Logística e SVM. O Random Forest, porém, foi o melhor modelo: um ensemble de árvores em amostras bootstrap e subconjuntos de features, com voto majoritário, que captura melhor as interações entre mapa, economia e armamento e atinge F1 de zero vírgula noventa e ROC-AUC de zero vírgula noventa e sete.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métricas seguem o padrão da literatura. Na classificação: accuracy, precision e recall a partir da matriz de confusão; o F1, média harmônica entre precision e recall; e a ROC-AUC, que mede a capacidade de ranquear probabilidades, independente do limiar. Na regressão: o erro médio absoluto, a raiz do erro quadrático médio e o R², que indica a fração da variância explicada pelo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Comparando os quatro classificadores nas mesmas condições, surge uma hierarquia clara. Regressão Logística e SVM ficam na faixa de zero vírgula setenta e sete a zero vírgula setenta e oito de F1. O KNN, com K igual a cinco, sobe para zero vírgula oitenta e seis, em segundo lugar. E o Random Forest se destaca no topo, com F1 de zero vírgula noventa e ROC-AUC de zero vírgula noventa e sete — capturando melhor as interações entre mapa, economia e armamento. Todos os valores vêm da mesma execução reproduzível no Colab.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tarefa complementar de regressão, prevemos o money_diff a partir das demais features — excluindo as variáveis que vazariam o alvo. A Regressão Linear serve de baseline e o Random Forest Regressor melhora todas as métricas: o erro absoluto médio cai de cerca de seis mil e seiscentos para quatro mil e oitocentos dólares, e o R² sobe de zero vírgula quatrocentos e cinquenta e um para zero vírgula quinhentos e noventa e oito.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o Random Forest supera os demais? Porque modela interações não lineares entre múltiplas features, numéricas e categóricas, que os modelos lineares não capturam. A importância de features confirma economia, armamento e mapa entre as mais relevantes. A matriz de confusão e a curva ROC do melhor modelo mostram alta separabilidade. A mensagem central: economia importa, mas não basta — cerca de sessenta por cento com a heurística contra noventa por cento com o Random Forest.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importante ser honesto sobre as limitações. Os dados são de CS:GO de 2019 e 2020, não do CS2 atual. O dataset não traz identificador de round, o que abre a possibilidade de sobreposição entre treino e teste. A SVM foi treinada apenas numa subamostra. E o buy tier é uma aproximação baseada no dinheiro médio por jogador, sem considerar o bônus de derrota.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síntese, os objetivos foram alcançados: fizemos a exploração dos dados, o pré-processamento, a comparação de modelos clássicos, a avaliação por métricas e um notebook reproduzível no Colab. O Random Forest foi o melhor modelo e, mais do que isso, mostramos que o Machine Learning agrega valor real sobre a heurística de economia. Como trabalhos futuros, propomos migrar para o CS2, adotar split agrupado por round e construir um dashboard de probabilidade de vitória.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fim, as referências em formato ABNT resumido, organizadas entre dados e domínio, métodos clássicos de Machine Learning e as ferramentas utilizadas.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sv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svg"/><Relationship Id="rId7" Type="http://schemas.openxmlformats.org/officeDocument/2006/relationships/image" Target="../media/image20.png"/><Relationship Id="rId8" Type="http://schemas.openxmlformats.org/officeDocument/2006/relationships/image" Target="../media/image21.svg"/><Relationship Id="rId9" Type="http://schemas.openxmlformats.org/officeDocument/2006/relationships/image" Target="../media/image22.png"/><Relationship Id="rId10" Type="http://schemas.openxmlformats.org/officeDocument/2006/relationships/image" Target="../media/image23.svg"/><Relationship Id="rId11" Type="http://schemas.openxmlformats.org/officeDocument/2006/relationships/image" Target="../media/image24.png"/><Relationship Id="rId12" Type="http://schemas.openxmlformats.org/officeDocument/2006/relationships/image" Target="../media/image25.svg"/><Relationship Id="rId13" Type="http://schemas.openxmlformats.org/officeDocument/2006/relationships/image" Target="../media/image26.png"/><Relationship Id="rId14" Type="http://schemas.openxmlformats.org/officeDocument/2006/relationships/image" Target="../media/image27.svg"/><Relationship Id="rId15" Type="http://schemas.openxmlformats.org/officeDocument/2006/relationships/image" Target="../media/image28.png"/><Relationship Id="rId16" Type="http://schemas.openxmlformats.org/officeDocument/2006/relationships/image" Target="../media/image29.svg"/><Relationship Id="rId17" Type="http://schemas.openxmlformats.org/officeDocument/2006/relationships/image" Target="../media/image30.png"/><Relationship Id="rId18" Type="http://schemas.openxmlformats.org/officeDocument/2006/relationships/image" Target="../media/image31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svg"/><Relationship Id="rId3" Type="http://schemas.openxmlformats.org/officeDocument/2006/relationships/image" Target="../media/image38.png"/><Relationship Id="rId4" Type="http://schemas.openxmlformats.org/officeDocument/2006/relationships/image" Target="../media/image39.svg"/><Relationship Id="rId5" Type="http://schemas.openxmlformats.org/officeDocument/2006/relationships/image" Target="../media/image40.png"/><Relationship Id="rId6" Type="http://schemas.openxmlformats.org/officeDocument/2006/relationships/image" Target="../media/image41.svg"/><Relationship Id="rId7" Type="http://schemas.openxmlformats.org/officeDocument/2006/relationships/image" Target="../media/image42.png"/><Relationship Id="rId8" Type="http://schemas.openxmlformats.org/officeDocument/2006/relationships/image" Target="../media/image43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svg"/><Relationship Id="rId3" Type="http://schemas.openxmlformats.org/officeDocument/2006/relationships/image" Target="../media/image46.png"/><Relationship Id="rId4" Type="http://schemas.openxmlformats.org/officeDocument/2006/relationships/image" Target="../media/image47.svg"/><Relationship Id="rId5" Type="http://schemas.openxmlformats.org/officeDocument/2006/relationships/image" Target="../media/image48.png"/><Relationship Id="rId6" Type="http://schemas.openxmlformats.org/officeDocument/2006/relationships/image" Target="../media/image49.svg"/><Relationship Id="rId7" Type="http://schemas.openxmlformats.org/officeDocument/2006/relationships/image" Target="../media/image50.png"/><Relationship Id="rId8" Type="http://schemas.openxmlformats.org/officeDocument/2006/relationships/image" Target="../media/image51.svg"/><Relationship Id="rId9" Type="http://schemas.openxmlformats.org/officeDocument/2006/relationships/image" Target="../media/image52.png"/><Relationship Id="rId10" Type="http://schemas.openxmlformats.org/officeDocument/2006/relationships/image" Target="../media/image53.svg"/><Relationship Id="rId11" Type="http://schemas.openxmlformats.org/officeDocument/2006/relationships/image" Target="../media/image54.png"/><Relationship Id="rId12" Type="http://schemas.openxmlformats.org/officeDocument/2006/relationships/image" Target="../media/image55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" y="30480"/>
            <a:ext cx="18288000" cy="10287000"/>
          </a:xfrm>
          <a:prstGeom prst="rect">
            <a:avLst/>
          </a:prstGeom>
          <a:solidFill>
            <a:srgbClr val="0F172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1047750"/>
            <a:ext cx="1781175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4D9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MACHINE LEARNING CLÁSSICO · TRABALHO FINAL · 2026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047750" y="2496979"/>
            <a:ext cx="647105" cy="411480"/>
          </a:xfrm>
          <a:prstGeom prst="roundRect">
            <a:avLst>
              <a:gd name="adj" fmla="val 50000"/>
            </a:avLst>
          </a:prstGeom>
          <a:ln w="7620">
            <a:solidFill>
              <a:srgbClr val="4D9B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26820" y="2580799"/>
            <a:ext cx="365165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4D9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866305" y="2550319"/>
            <a:ext cx="372904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334459" y="2496979"/>
            <a:ext cx="491014" cy="411480"/>
          </a:xfrm>
          <a:prstGeom prst="ellipse">
            <a:avLst/>
          </a:prstGeom>
          <a:ln w="762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513529" y="2580799"/>
            <a:ext cx="209074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F0A4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47750" y="3232309"/>
            <a:ext cx="14716125" cy="157257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700" b="1" kern="0" spc="-75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Predição de vitória de round em Counter-Strike: Global Offensive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1047750" y="5033486"/>
            <a:ext cx="13538835" cy="10153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8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 base em economia e armamento — comparação de modelos de Machine Learning Clássico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1047750" y="7216140"/>
            <a:ext cx="16192500" cy="9525"/>
          </a:xfrm>
          <a:prstGeom prst="rect">
            <a:avLst/>
          </a:prstGeom>
          <a:solidFill>
            <a:srgbClr val="334155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47750" y="7547610"/>
            <a:ext cx="4845451" cy="2362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9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INTEGRANTES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47750" y="7821930"/>
            <a:ext cx="4845451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Pedro Ernesto · Carlos Eduardo · Karine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024206" y="7547610"/>
            <a:ext cx="7339096" cy="2362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9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REPOSITÓRIO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24206" y="7821930"/>
            <a:ext cx="7339096" cy="3276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github.com/</a:t>
            </a:r>
            <a:r>
              <a:rPr lang="pt-BR" altLang="en-US" sz="19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carloseduardob</a:t>
            </a:r>
            <a:r>
              <a:rPr lang="en-US" sz="19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/projeto-machine-learning-csgo</a:t>
            </a:r>
            <a:endParaRPr lang="en-US" sz="1950" dirty="0"/>
          </a:p>
          <a:p>
            <a:pPr marL="0" indent="0" algn="l">
              <a:buNone/>
            </a:pP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47750" y="8682990"/>
            <a:ext cx="6787849" cy="2362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9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REPRODUÇÃO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47750" y="8957310"/>
            <a:ext cx="6787849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Google Colab — COLAB_PROJETO-COMPLETO.ipynb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SUMÁRIO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9159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37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Três partes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442210"/>
            <a:ext cx="5194221" cy="7082790"/>
          </a:xfrm>
          <a:prstGeom prst="roundRect">
            <a:avLst>
              <a:gd name="adj" fmla="val 1834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409700" y="2842260"/>
            <a:ext cx="4917353" cy="647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409700" y="3623310"/>
            <a:ext cx="4917353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Problema, contexto e EDA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49680" y="4160520"/>
            <a:ext cx="4706541" cy="1866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Contexto de CS:GO e o round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Formulação do problema de ML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Hipótese, justificativa e dataset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Exploração dos dados (EDA)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Trabalhos relacionados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46771" y="2442210"/>
            <a:ext cx="5194340" cy="7082790"/>
          </a:xfrm>
          <a:prstGeom prst="roundRect">
            <a:avLst>
              <a:gd name="adj" fmla="val 1834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08721" y="2842260"/>
            <a:ext cx="4917484" cy="647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II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908721" y="3623310"/>
            <a:ext cx="4917484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Pré-processamento e pipeline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748701" y="4160520"/>
            <a:ext cx="4706660" cy="1474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Filtros e limpeza dos dados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Engenharia de features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Pipeline scikit-learn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Split e validação de hiperparâmetros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045910" y="2442210"/>
            <a:ext cx="5194340" cy="7082790"/>
          </a:xfrm>
          <a:prstGeom prst="roundRect">
            <a:avLst>
              <a:gd name="adj" fmla="val 1834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407860" y="2842260"/>
            <a:ext cx="4917484" cy="647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III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2407860" y="3623310"/>
            <a:ext cx="4917484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Modelos, métricas e resultados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247840" y="4160520"/>
            <a:ext cx="4706660" cy="1474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Quatro modelos de classificação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Métricas e fórmulas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Resultados comparativos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Análise, limitações e conclusão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3198495"/>
            <a:ext cx="17811750" cy="1924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500" b="1" kern="0" spc="-3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1047750" y="5313045"/>
            <a:ext cx="17811750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4D9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PARTE I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5747385"/>
            <a:ext cx="12753975" cy="13792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Problema, contexto e exploração dos dados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CONTEXTO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9159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37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CS:GO e a unidade de análise: o round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366010"/>
            <a:ext cx="8193405" cy="1432560"/>
          </a:xfrm>
          <a:prstGeom prst="roundRect">
            <a:avLst>
              <a:gd name="adj" fmla="val 6649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0" y="2689860"/>
            <a:ext cx="285750" cy="285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47850" y="2651760"/>
            <a:ext cx="7776401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vs 5, dois lados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847850" y="2994660"/>
            <a:ext cx="7281539" cy="5562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Counter-Terrorists (CT) enfrentam Terrorists (T); cada partida é decidida round a round.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47750" y="4008120"/>
            <a:ext cx="8193405" cy="1432560"/>
          </a:xfrm>
          <a:prstGeom prst="roundRect">
            <a:avLst>
              <a:gd name="adj" fmla="val 6649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1600" y="4331970"/>
            <a:ext cx="285750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47850" y="4293870"/>
            <a:ext cx="7776401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Economia define armamento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847850" y="4636770"/>
            <a:ext cx="7281539" cy="5562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 dinheiro acumulado determina rifles, AWP, colete e granadas disponíveis no round.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047750" y="5650230"/>
            <a:ext cx="8193405" cy="1432560"/>
          </a:xfrm>
          <a:prstGeom prst="roundRect">
            <a:avLst>
              <a:gd name="adj" fmla="val 6649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1600" y="5974080"/>
            <a:ext cx="285750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47850" y="5935980"/>
            <a:ext cx="7776401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Decisões ainda subjetivas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1847850" y="6278880"/>
            <a:ext cx="7281539" cy="5562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 escolhas táticas dependem da intuição dos jogadores, sem suporte quantitativo.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9622155" y="2366010"/>
            <a:ext cx="7618095" cy="7158990"/>
          </a:xfrm>
          <a:prstGeom prst="roundRect">
            <a:avLst>
              <a:gd name="adj" fmla="val 1330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11013877" y="4491990"/>
            <a:ext cx="1238250" cy="1238250"/>
          </a:xfrm>
          <a:prstGeom prst="ellipse">
            <a:avLst/>
          </a:prstGeom>
          <a:solidFill>
            <a:srgbClr val="0D6EFD">
              <a:alpha val="15000"/>
            </a:srgbClr>
          </a:solidFill>
          <a:ln w="22860">
            <a:solidFill>
              <a:srgbClr val="0D6EFD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10998637" y="4514850"/>
            <a:ext cx="1268730" cy="123063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450" b="1" dirty="0">
                <a:solidFill>
                  <a:srgbClr val="4D9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CT</a:t>
            </a:r>
            <a:endParaRPr lang="en-US" sz="3450" dirty="0"/>
          </a:p>
        </p:txBody>
      </p:sp>
      <p:sp>
        <p:nvSpPr>
          <p:cNvPr id="20" name="Text 15"/>
          <p:cNvSpPr/>
          <p:nvPr/>
        </p:nvSpPr>
        <p:spPr>
          <a:xfrm>
            <a:off x="10909048" y="5863590"/>
            <a:ext cx="2306229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defendem / desarmam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13434299" y="5090160"/>
            <a:ext cx="559118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VS</a:t>
            </a:r>
            <a:endParaRPr lang="en-US" sz="2850" dirty="0"/>
          </a:p>
        </p:txBody>
      </p:sp>
      <p:sp>
        <p:nvSpPr>
          <p:cNvPr id="22" name="Shape 17"/>
          <p:cNvSpPr/>
          <p:nvPr/>
        </p:nvSpPr>
        <p:spPr>
          <a:xfrm>
            <a:off x="14241066" y="4491990"/>
            <a:ext cx="1238250" cy="1238250"/>
          </a:xfrm>
          <a:prstGeom prst="ellipse">
            <a:avLst/>
          </a:prstGeom>
          <a:solidFill>
            <a:srgbClr val="E67E22">
              <a:alpha val="18000"/>
            </a:srgbClr>
          </a:solidFill>
          <a:ln w="2286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23" name="Text 18"/>
          <p:cNvSpPr/>
          <p:nvPr/>
        </p:nvSpPr>
        <p:spPr>
          <a:xfrm>
            <a:off x="14225826" y="4514850"/>
            <a:ext cx="1268730" cy="123063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450" b="1" dirty="0">
                <a:solidFill>
                  <a:srgbClr val="F0A4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</a:t>
            </a:r>
            <a:endParaRPr lang="en-US" sz="3450" dirty="0"/>
          </a:p>
        </p:txBody>
      </p:sp>
      <p:sp>
        <p:nvSpPr>
          <p:cNvPr id="24" name="Text 19"/>
          <p:cNvSpPr/>
          <p:nvPr/>
        </p:nvSpPr>
        <p:spPr>
          <a:xfrm>
            <a:off x="14160698" y="5863590"/>
            <a:ext cx="1768078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atacam / plantam</a:t>
            </a:r>
            <a:endParaRPr lang="en-US" sz="1650" dirty="0"/>
          </a:p>
        </p:txBody>
      </p:sp>
      <p:sp>
        <p:nvSpPr>
          <p:cNvPr id="25" name="Shape 20"/>
          <p:cNvSpPr/>
          <p:nvPr/>
        </p:nvSpPr>
        <p:spPr>
          <a:xfrm>
            <a:off x="10079356" y="6393180"/>
            <a:ext cx="6703695" cy="9525"/>
          </a:xfrm>
          <a:prstGeom prst="rect">
            <a:avLst/>
          </a:prstGeom>
          <a:solidFill>
            <a:srgbClr val="334155"/>
          </a:solidFill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9744171" y="6648450"/>
            <a:ext cx="7374064" cy="259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kern="0" spc="113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ARSENAL DISPONÍVEL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11418809" y="7002780"/>
            <a:ext cx="828794" cy="3962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11533109" y="7078980"/>
            <a:ext cx="600194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Rifles</a:t>
            </a:r>
            <a:endParaRPr lang="en-US" sz="1650" dirty="0"/>
          </a:p>
        </p:txBody>
      </p:sp>
      <p:sp>
        <p:nvSpPr>
          <p:cNvPr id="29" name="Shape 24"/>
          <p:cNvSpPr/>
          <p:nvPr/>
        </p:nvSpPr>
        <p:spPr>
          <a:xfrm>
            <a:off x="12342852" y="7002780"/>
            <a:ext cx="774383" cy="3962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</p:spPr>
        <p:txBody>
          <a:bodyPr/>
          <a:p/>
        </p:txBody>
      </p:sp>
      <p:sp>
        <p:nvSpPr>
          <p:cNvPr id="30" name="Text 25"/>
          <p:cNvSpPr/>
          <p:nvPr/>
        </p:nvSpPr>
        <p:spPr>
          <a:xfrm>
            <a:off x="12457152" y="7078980"/>
            <a:ext cx="545783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AWP</a:t>
            </a:r>
            <a:endParaRPr lang="en-US" sz="1650" dirty="0"/>
          </a:p>
        </p:txBody>
      </p:sp>
      <p:sp>
        <p:nvSpPr>
          <p:cNvPr id="31" name="Shape 26"/>
          <p:cNvSpPr/>
          <p:nvPr/>
        </p:nvSpPr>
        <p:spPr>
          <a:xfrm>
            <a:off x="13212485" y="7002780"/>
            <a:ext cx="910590" cy="3962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13326785" y="7078980"/>
            <a:ext cx="68199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Colete</a:t>
            </a:r>
            <a:endParaRPr lang="en-US" sz="1650" dirty="0"/>
          </a:p>
        </p:txBody>
      </p:sp>
      <p:sp>
        <p:nvSpPr>
          <p:cNvPr id="33" name="Shape 28"/>
          <p:cNvSpPr/>
          <p:nvPr/>
        </p:nvSpPr>
        <p:spPr>
          <a:xfrm>
            <a:off x="14218325" y="7002780"/>
            <a:ext cx="1225153" cy="3962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</p:spPr>
        <p:txBody>
          <a:bodyPr/>
          <a:p/>
        </p:txBody>
      </p:sp>
      <p:sp>
        <p:nvSpPr>
          <p:cNvPr id="34" name="Text 29"/>
          <p:cNvSpPr/>
          <p:nvPr/>
        </p:nvSpPr>
        <p:spPr>
          <a:xfrm>
            <a:off x="14332625" y="7078980"/>
            <a:ext cx="996553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Granadas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FORMULAÇÃO MATEMÁTICA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9159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37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Duas tarefas de aprendizado supervisionado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366010"/>
            <a:ext cx="7905750" cy="7158990"/>
          </a:xfrm>
          <a:prstGeom prst="roundRect">
            <a:avLst>
              <a:gd name="adj" fmla="val 1330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47750" y="2366010"/>
            <a:ext cx="7905750" cy="45720"/>
          </a:xfrm>
          <a:prstGeom prst="rect">
            <a:avLst/>
          </a:prstGeom>
          <a:solidFill>
            <a:srgbClr val="0D6EFD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66850" y="2830830"/>
            <a:ext cx="7774305" cy="259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TAREFA PRINCIPAL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6850" y="3147060"/>
            <a:ext cx="7774305" cy="4343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Classificação binária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466850" y="3810000"/>
            <a:ext cx="400050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X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924050" y="3848100"/>
            <a:ext cx="6859488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features do estado do round (economia, armas, mapa…)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66850" y="4301490"/>
            <a:ext cx="400050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y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24050" y="4339590"/>
            <a:ext cx="2799588" cy="335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round_winner ∈ {CT, T}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466850" y="8061960"/>
            <a:ext cx="7067550" cy="1043940"/>
          </a:xfrm>
          <a:prstGeom prst="roundRect">
            <a:avLst>
              <a:gd name="adj" fmla="val 9124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760220" y="8317230"/>
            <a:ext cx="6692837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target_cls </a:t>
            </a: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= </a:t>
            </a:r>
            <a:r>
              <a:rPr lang="en-US" sz="180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 se T vence 0 se CT vence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334500" y="2366010"/>
            <a:ext cx="7905750" cy="7158990"/>
          </a:xfrm>
          <a:prstGeom prst="roundRect">
            <a:avLst>
              <a:gd name="adj" fmla="val 1330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334500" y="2366010"/>
            <a:ext cx="7905750" cy="45720"/>
          </a:xfrm>
          <a:prstGeom prst="rect">
            <a:avLst/>
          </a:prstGeom>
          <a:solidFill>
            <a:srgbClr val="E67E22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753600" y="2830830"/>
            <a:ext cx="7774305" cy="259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C2670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TAREFA COMPLEMENTAR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753600" y="3147060"/>
            <a:ext cx="7774305" cy="4343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Regressão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753600" y="3810000"/>
            <a:ext cx="628650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alvo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439400" y="3848100"/>
            <a:ext cx="2816221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valor contínuo em USD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753600" y="4301490"/>
            <a:ext cx="6389834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Mede a vantagem econômica relativa entre os times.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753600" y="8275320"/>
            <a:ext cx="7067550" cy="830580"/>
          </a:xfrm>
          <a:prstGeom prst="roundRect">
            <a:avLst>
              <a:gd name="adj" fmla="val 11468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46970" y="8530590"/>
            <a:ext cx="6692837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money_diff </a:t>
            </a: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= </a:t>
            </a:r>
            <a:r>
              <a:rPr lang="en-US" sz="22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ct_money </a:t>
            </a: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− </a:t>
            </a:r>
            <a:r>
              <a:rPr lang="en-US" sz="22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t_money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HIPÓTESE E DADOS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9159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37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Por que recorrer a Machine Learning?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366010"/>
            <a:ext cx="7486650" cy="2217420"/>
          </a:xfrm>
          <a:prstGeom prst="roundRect">
            <a:avLst>
              <a:gd name="adj" fmla="val 4296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466850" y="2747010"/>
            <a:ext cx="7313295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Heurística "time com mais dinheiro vence"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6850" y="3082290"/>
            <a:ext cx="2852106" cy="952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0A4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60,5%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212074" y="3638550"/>
            <a:ext cx="1219081" cy="6019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 acerto nos dados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7750" y="4850130"/>
            <a:ext cx="7486650" cy="1845945"/>
          </a:xfrm>
          <a:prstGeom prst="roundRect">
            <a:avLst>
              <a:gd name="adj" fmla="val 5160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28750" y="5193030"/>
            <a:ext cx="6949250" cy="11982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334155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 ML integra </a:t>
            </a:r>
            <a:r>
              <a:rPr lang="en-US" sz="21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dezenas de variáveis </a:t>
            </a:r>
            <a:r>
              <a:rPr lang="en-US" sz="2100" dirty="0">
                <a:solidFill>
                  <a:srgbClr val="334155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 relações </a:t>
            </a:r>
            <a:r>
              <a:rPr lang="en-US" sz="21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não lineares </a:t>
            </a:r>
            <a:r>
              <a:rPr lang="en-US" sz="2100" dirty="0">
                <a:solidFill>
                  <a:srgbClr val="334155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economia, armamento, mapa e estado de jogo — que a heurística isolada ignora.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915400" y="2366010"/>
            <a:ext cx="8324850" cy="7158990"/>
          </a:xfrm>
          <a:prstGeom prst="roundRect">
            <a:avLst>
              <a:gd name="adj" fmla="val 1330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334500" y="2785110"/>
            <a:ext cx="8235315" cy="259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 DATASET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334500" y="3943350"/>
            <a:ext cx="7486650" cy="9525"/>
          </a:xfrm>
          <a:prstGeom prst="rect">
            <a:avLst/>
          </a:prstGeom>
          <a:solidFill>
            <a:srgbClr val="E2E8F0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334500" y="3234690"/>
            <a:ext cx="660797" cy="5562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Fonte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08250" y="3234690"/>
            <a:ext cx="6912900" cy="5562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Kaggle — CS:GO Round Winner Classification (Christian Lillelund)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34500" y="4869180"/>
            <a:ext cx="7486650" cy="9525"/>
          </a:xfrm>
          <a:prstGeom prst="rect">
            <a:avLst/>
          </a:prstGeom>
          <a:solidFill>
            <a:srgbClr val="E2E8F0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334500" y="4160520"/>
            <a:ext cx="825698" cy="5562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Origem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78099" y="4160520"/>
            <a:ext cx="6743051" cy="5562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Skybox AI Challenge · ~700 demos profissionais (2019–2020)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334500" y="5535930"/>
            <a:ext cx="7486650" cy="9525"/>
          </a:xfrm>
          <a:prstGeom prst="rect">
            <a:avLst/>
          </a:prstGeom>
          <a:solidFill>
            <a:srgbClr val="E2E8F0"/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334500" y="5086350"/>
            <a:ext cx="1156573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Snapshots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643825" y="5086350"/>
            <a:ext cx="5177326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capturados a cada ~20 s até o fim do round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334500" y="7879080"/>
            <a:ext cx="2381250" cy="1226820"/>
          </a:xfrm>
          <a:prstGeom prst="roundRect">
            <a:avLst>
              <a:gd name="adj" fmla="val 7764"/>
            </a:avLst>
          </a:prstGeom>
          <a:solidFill>
            <a:srgbClr val="E7F1FF"/>
          </a:solidFill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466898" y="8107680"/>
            <a:ext cx="2116455" cy="5257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122.410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9466898" y="8633460"/>
            <a:ext cx="2116455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linhas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887200" y="7879080"/>
            <a:ext cx="2381250" cy="1226820"/>
          </a:xfrm>
          <a:prstGeom prst="roundRect">
            <a:avLst>
              <a:gd name="adj" fmla="val 7764"/>
            </a:avLst>
          </a:prstGeom>
          <a:solidFill>
            <a:srgbClr val="E7F1FF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2019598" y="8107680"/>
            <a:ext cx="2116455" cy="5257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97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12019598" y="8633460"/>
            <a:ext cx="2116455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colunas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4439900" y="7879080"/>
            <a:ext cx="2381250" cy="1226820"/>
          </a:xfrm>
          <a:prstGeom prst="roundRect">
            <a:avLst>
              <a:gd name="adj" fmla="val 7764"/>
            </a:avLst>
          </a:prstGeom>
          <a:solidFill>
            <a:srgbClr val="F0FDF4"/>
          </a:solidFill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4572298" y="8107680"/>
            <a:ext cx="2116455" cy="5257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</a:t>
            </a:r>
            <a:endParaRPr lang="en-US" sz="3300" dirty="0"/>
          </a:p>
        </p:txBody>
      </p:sp>
      <p:sp>
        <p:nvSpPr>
          <p:cNvPr id="30" name="Text 28"/>
          <p:cNvSpPr/>
          <p:nvPr/>
        </p:nvSpPr>
        <p:spPr>
          <a:xfrm>
            <a:off x="14572298" y="8633460"/>
            <a:ext cx="2116455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nulos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857250"/>
            <a:ext cx="1781175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ANÁLISE EXPLORATÓRIA (EDA)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3444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37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Principais achados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213610"/>
            <a:ext cx="6245423" cy="1249680"/>
          </a:xfrm>
          <a:prstGeom prst="roundRect">
            <a:avLst>
              <a:gd name="adj" fmla="val 7622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14450" y="2442210"/>
            <a:ext cx="6283226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Balanceamento de classes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14450" y="2834640"/>
            <a:ext cx="2913102" cy="400050"/>
          </a:xfrm>
          <a:prstGeom prst="rect">
            <a:avLst/>
          </a:prstGeom>
          <a:solidFill>
            <a:srgbClr val="E67E22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66850" y="2834640"/>
            <a:ext cx="284809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 · 51%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227552" y="2834640"/>
            <a:ext cx="2798802" cy="400050"/>
          </a:xfrm>
          <a:prstGeom prst="rect">
            <a:avLst/>
          </a:prstGeom>
          <a:solidFill>
            <a:srgbClr val="0D6EFD"/>
          </a:solidFill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143588" y="2834640"/>
            <a:ext cx="2730366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49% · CT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047750" y="3634740"/>
            <a:ext cx="6245423" cy="5928360"/>
          </a:xfrm>
          <a:prstGeom prst="roundRect">
            <a:avLst>
              <a:gd name="adj" fmla="val 1607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14450" y="3863340"/>
            <a:ext cx="6283226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 que influencia a vitória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14450" y="4236720"/>
            <a:ext cx="5883384" cy="5410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en-US" sz="1725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Economia </a:t>
            </a:r>
            <a:r>
              <a:rPr lang="en-US" sz="172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money_diff correlaciona, mas não decide sozinha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314450" y="4844415"/>
            <a:ext cx="6283226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en-US" sz="1725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Mapa </a:t>
            </a:r>
            <a:r>
              <a:rPr lang="en-US" sz="172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jogado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1314450" y="5200650"/>
            <a:ext cx="6283226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Presença de </a:t>
            </a:r>
            <a:r>
              <a:rPr lang="en-US" sz="1725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AWP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314450" y="5556885"/>
            <a:ext cx="6283226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en-US" sz="1725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Bomba plantada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314450" y="5913120"/>
            <a:ext cx="6283226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en-US" sz="1725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Buy tier </a:t>
            </a:r>
            <a:r>
              <a:rPr lang="en-US" sz="172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 rodada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7559873" y="2213610"/>
            <a:ext cx="3112413" cy="5528310"/>
          </a:xfrm>
          <a:prstGeom prst="roundRect">
            <a:avLst>
              <a:gd name="adj" fmla="val 306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/>
          <a:srcRect t="-75227" b="-75227"/>
          <a:stretch>
            <a:fillRect/>
          </a:stretch>
        </p:blipFill>
        <p:spPr>
          <a:xfrm>
            <a:off x="7559873" y="2213610"/>
            <a:ext cx="3112413" cy="552831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404253" y="7818120"/>
            <a:ext cx="3423654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Distribuição do vencedor</a:t>
            </a:r>
            <a:endParaRPr lang="en-US" sz="1425" dirty="0"/>
          </a:p>
        </p:txBody>
      </p:sp>
      <p:sp>
        <p:nvSpPr>
          <p:cNvPr id="21" name="Shape 18"/>
          <p:cNvSpPr/>
          <p:nvPr/>
        </p:nvSpPr>
        <p:spPr>
          <a:xfrm>
            <a:off x="10843737" y="2213610"/>
            <a:ext cx="3112532" cy="5528310"/>
          </a:xfrm>
          <a:prstGeom prst="roundRect">
            <a:avLst>
              <a:gd name="adj" fmla="val 306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rcRect t="-224144" b="-224144"/>
          <a:stretch>
            <a:fillRect/>
          </a:stretch>
        </p:blipFill>
        <p:spPr>
          <a:xfrm>
            <a:off x="10843737" y="2213610"/>
            <a:ext cx="3112532" cy="552831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688110" y="7818120"/>
            <a:ext cx="3423785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Economia × vitória</a:t>
            </a:r>
            <a:endParaRPr lang="en-US" sz="1425" dirty="0"/>
          </a:p>
        </p:txBody>
      </p:sp>
      <p:sp>
        <p:nvSpPr>
          <p:cNvPr id="24" name="Shape 20"/>
          <p:cNvSpPr/>
          <p:nvPr/>
        </p:nvSpPr>
        <p:spPr>
          <a:xfrm>
            <a:off x="14127718" y="2213610"/>
            <a:ext cx="3112532" cy="5528310"/>
          </a:xfrm>
          <a:prstGeom prst="roundRect">
            <a:avLst>
              <a:gd name="adj" fmla="val 306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rcRect t="-114058" b="-114058"/>
          <a:stretch>
            <a:fillRect/>
          </a:stretch>
        </p:blipFill>
        <p:spPr>
          <a:xfrm>
            <a:off x="14127718" y="2213610"/>
            <a:ext cx="3112532" cy="552831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3972091" y="7818120"/>
            <a:ext cx="3423785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Buy tier</a:t>
            </a:r>
            <a:endParaRPr lang="en-US" sz="1425" dirty="0"/>
          </a:p>
        </p:txBody>
      </p:sp>
      <p:sp>
        <p:nvSpPr>
          <p:cNvPr id="27" name="Shape 22"/>
          <p:cNvSpPr/>
          <p:nvPr/>
        </p:nvSpPr>
        <p:spPr>
          <a:xfrm>
            <a:off x="7559873" y="8202930"/>
            <a:ext cx="9680377" cy="1360170"/>
          </a:xfrm>
          <a:prstGeom prst="roundRect">
            <a:avLst>
              <a:gd name="adj" fmla="val 7003"/>
            </a:avLst>
          </a:prstGeom>
          <a:solidFill>
            <a:srgbClr val="FFF8EC"/>
          </a:solidFill>
          <a:ln w="7620">
            <a:solidFill>
              <a:srgbClr val="FCD34D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34193" y="8439150"/>
            <a:ext cx="285750" cy="28575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291393" y="8420100"/>
            <a:ext cx="9541990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92400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Atenção ao data leakage</a:t>
            </a:r>
            <a:endParaRPr lang="en-US" sz="1875" dirty="0"/>
          </a:p>
        </p:txBody>
      </p:sp>
      <p:sp>
        <p:nvSpPr>
          <p:cNvPr id="30" name="Text 24"/>
          <p:cNvSpPr/>
          <p:nvPr/>
        </p:nvSpPr>
        <p:spPr>
          <a:xfrm>
            <a:off x="8291393" y="8732520"/>
            <a:ext cx="8934773" cy="6515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7C55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Múltiplos snapshots por round vazam o desfecho. Mitigação: usar </a:t>
            </a:r>
            <a:r>
              <a:rPr lang="en-US" sz="1725" b="1" dirty="0">
                <a:solidFill>
                  <a:srgbClr val="7C55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apenas o início do round </a:t>
            </a:r>
            <a:r>
              <a:rPr lang="en-US" sz="1725" dirty="0">
                <a:solidFill>
                  <a:srgbClr val="7C55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</a:t>
            </a:r>
            <a:endParaRPr lang="en-US" sz="17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ESTADO DA ARTE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9159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37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Trabalhos relacionados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327910"/>
            <a:ext cx="16192500" cy="3543300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47750" y="2327910"/>
            <a:ext cx="16192500" cy="56388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47750" y="2884170"/>
            <a:ext cx="16192500" cy="9525"/>
          </a:xfrm>
          <a:prstGeom prst="rect">
            <a:avLst/>
          </a:prstGeom>
          <a:solidFill>
            <a:srgbClr val="E2E8F0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600" y="2499360"/>
            <a:ext cx="6576596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TRABALHO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350323" y="2499360"/>
            <a:ext cx="10522684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CONTRIBUIÇÃO / MÉTODO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1047750" y="3630930"/>
            <a:ext cx="16192500" cy="9525"/>
          </a:xfrm>
          <a:prstGeom prst="rect">
            <a:avLst/>
          </a:prstGeom>
          <a:solidFill>
            <a:srgbClr val="EEF2F6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71600" y="3120390"/>
            <a:ext cx="6576596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Skybox AI Challenge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350323" y="3120390"/>
            <a:ext cx="10522684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Competição que originou os dados (~700 demos profissionais)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3638550"/>
            <a:ext cx="16192500" cy="746760"/>
          </a:xfrm>
          <a:prstGeom prst="rect">
            <a:avLst/>
          </a:prstGeom>
          <a:solidFill>
            <a:srgbClr val="FAFAFA"/>
          </a:solidFill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47750" y="4377690"/>
            <a:ext cx="16192500" cy="9525"/>
          </a:xfrm>
          <a:prstGeom prst="rect">
            <a:avLst/>
          </a:prstGeom>
          <a:solidFill>
            <a:srgbClr val="EEF2F6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71600" y="3867150"/>
            <a:ext cx="6576596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Lillelund (Kaggle)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350323" y="3867150"/>
            <a:ext cx="10522684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Publicação do dataset público de classificação de vencedor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47750" y="5124450"/>
            <a:ext cx="16192500" cy="9525"/>
          </a:xfrm>
          <a:prstGeom prst="rect">
            <a:avLst/>
          </a:prstGeom>
          <a:solidFill>
            <a:srgbClr val="EEF2F6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71600" y="4613910"/>
            <a:ext cx="6576596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Hiemstra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350323" y="4613910"/>
            <a:ext cx="10522684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Abordagem Bayesiana sobre o mesmo CSV — método diferente do nosso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47750" y="5132070"/>
            <a:ext cx="16192500" cy="739140"/>
          </a:xfrm>
          <a:prstGeom prst="rect">
            <a:avLst/>
          </a:prstGeom>
          <a:solidFill>
            <a:srgbClr val="FAFAFA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371600" y="5360670"/>
            <a:ext cx="6576596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Ghosh · CSGOPredictor (GitHub)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350323" y="5360670"/>
            <a:ext cx="10522684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Regressão Logística e Random Forest no mesmo problema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6176010"/>
            <a:ext cx="16192500" cy="1253490"/>
          </a:xfrm>
          <a:prstGeom prst="rect">
            <a:avLst/>
          </a:prstGeom>
          <a:solidFill>
            <a:srgbClr val="E7F1FF"/>
          </a:solidFill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47750" y="6176010"/>
            <a:ext cx="45720" cy="1253490"/>
          </a:xfrm>
          <a:prstGeom prst="rect">
            <a:avLst/>
          </a:prstGeom>
          <a:solidFill>
            <a:srgbClr val="0D6EFD"/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417320" y="6442710"/>
            <a:ext cx="15984855" cy="7581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0A3A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Nosso posicionamento: </a:t>
            </a:r>
            <a:r>
              <a:rPr lang="en-US" sz="2025" dirty="0">
                <a:solidFill>
                  <a:srgbClr val="0A3A7A"/>
                </a:solidFill>
                <a:highlight>
                  <a:srgbClr val="E7F1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comparação sistemática de modelos de ML clássico sobre um </a:t>
            </a:r>
            <a:r>
              <a:rPr lang="en-US" sz="2025" b="1" dirty="0">
                <a:solidFill>
                  <a:srgbClr val="0A3A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pipeline reproduzível </a:t>
            </a:r>
            <a:r>
              <a:rPr lang="en-US" sz="2025" dirty="0">
                <a:solidFill>
                  <a:srgbClr val="0A3A7A"/>
                </a:solidFill>
                <a:highlight>
                  <a:srgbClr val="E7F1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, com métricas padronizadas e validação cruzada.</a:t>
            </a:r>
            <a:endParaRPr lang="en-US" sz="20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3533775"/>
            <a:ext cx="17811750" cy="1924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500" b="1" kern="0" spc="-3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II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1047750" y="5648325"/>
            <a:ext cx="17811750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4D9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PARTE II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6082665"/>
            <a:ext cx="13620750" cy="7086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Pré-processamento, features e pipeline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LIMPEZA DOS DADOS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9159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37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Filtros aplicados e sua justificativa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308860"/>
            <a:ext cx="9379625" cy="3482340"/>
          </a:xfrm>
          <a:prstGeom prst="roundRect">
            <a:avLst>
              <a:gd name="adj" fmla="val 2735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47750" y="2308860"/>
            <a:ext cx="9379625" cy="56388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47750" y="2865120"/>
            <a:ext cx="9379625" cy="9525"/>
          </a:xfrm>
          <a:prstGeom prst="rect">
            <a:avLst/>
          </a:prstGeom>
          <a:solidFill>
            <a:srgbClr val="E2E8F0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33500" y="2480310"/>
            <a:ext cx="2880396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FILTRO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3952042" y="2480310"/>
            <a:ext cx="3142333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REGRA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6808708" y="2480310"/>
            <a:ext cx="3666077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MOTIVO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1047750" y="3604260"/>
            <a:ext cx="9379625" cy="9525"/>
          </a:xfrm>
          <a:prstGeom prst="rect">
            <a:avLst/>
          </a:prstGeom>
          <a:solidFill>
            <a:srgbClr val="EEF2F6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33500" y="3101340"/>
            <a:ext cx="2880396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6EF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time_left ≥ 150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52042" y="3108960"/>
            <a:ext cx="3142333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Início do round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08708" y="3108960"/>
            <a:ext cx="3666077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Evitar informação pós-combate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47750" y="3611880"/>
            <a:ext cx="9379625" cy="723900"/>
          </a:xfrm>
          <a:prstGeom prst="rect">
            <a:avLst/>
          </a:prstGeom>
          <a:solidFill>
            <a:srgbClr val="FAFAFA"/>
          </a:solidFill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047750" y="4328160"/>
            <a:ext cx="9379625" cy="9525"/>
          </a:xfrm>
          <a:prstGeom prst="rect">
            <a:avLst/>
          </a:prstGeom>
          <a:solidFill>
            <a:srgbClr val="EEF2F6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33500" y="3840480"/>
            <a:ext cx="2880396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CT e 5 T vivos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52042" y="3840480"/>
            <a:ext cx="3142333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Round completo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08708" y="3840480"/>
            <a:ext cx="3666077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Snapshot 5 vs 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47750" y="5067300"/>
            <a:ext cx="9379625" cy="9525"/>
          </a:xfrm>
          <a:prstGeom prst="rect">
            <a:avLst/>
          </a:prstGeom>
          <a:solidFill>
            <a:srgbClr val="EEF2F6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333500" y="4564380"/>
            <a:ext cx="2880396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6EF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excluir de_cache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52042" y="4572000"/>
            <a:ext cx="3142333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Mapa raro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08708" y="4572000"/>
            <a:ext cx="3666077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Poucos dados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47750" y="5074920"/>
            <a:ext cx="9379625" cy="716280"/>
          </a:xfrm>
          <a:prstGeom prst="rect">
            <a:avLst/>
          </a:prstGeom>
          <a:solidFill>
            <a:srgbClr val="F0FDF4"/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333500" y="5303520"/>
            <a:ext cx="2880396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Resultado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952042" y="5303520"/>
            <a:ext cx="3142333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122.410 → 33.365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08708" y="5303520"/>
            <a:ext cx="3666077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Base final de modelagem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808375" y="2308860"/>
            <a:ext cx="6431875" cy="7216140"/>
          </a:xfrm>
          <a:prstGeom prst="roundRect">
            <a:avLst>
              <a:gd name="adj" fmla="val 1481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1265575" y="4309110"/>
            <a:ext cx="6069223" cy="259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BRUTO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265575" y="4606290"/>
            <a:ext cx="6069223" cy="647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122.410</a:t>
            </a:r>
            <a:endParaRPr lang="en-US" sz="48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65575" y="5463540"/>
            <a:ext cx="323850" cy="32385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703725" y="5495925"/>
            <a:ext cx="2110954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D9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filtros de qualidade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1265575" y="6035040"/>
            <a:ext cx="6069223" cy="259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BASE FINAL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11265575" y="6332220"/>
            <a:ext cx="6069223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33.365</a:t>
            </a:r>
            <a:endParaRPr lang="en-US" sz="6000" dirty="0"/>
          </a:p>
        </p:txBody>
      </p:sp>
      <p:sp>
        <p:nvSpPr>
          <p:cNvPr id="35" name="Text 32"/>
          <p:cNvSpPr/>
          <p:nvPr/>
        </p:nvSpPr>
        <p:spPr>
          <a:xfrm>
            <a:off x="11265575" y="7265670"/>
            <a:ext cx="6069223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≈ 27% das linhas, sem ruído temporal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 ENGINEERING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9159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37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Variáveis derivadas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308860"/>
            <a:ext cx="7962900" cy="3350895"/>
          </a:xfrm>
          <a:prstGeom prst="roundRect">
            <a:avLst>
              <a:gd name="adj" fmla="val 2843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90650" y="2613660"/>
            <a:ext cx="800481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75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ECONÔMICAS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0650" y="3028950"/>
            <a:ext cx="727710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588770" y="3169920"/>
            <a:ext cx="7099173" cy="3276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money_diff </a:t>
            </a: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= </a:t>
            </a:r>
            <a:r>
              <a:rPr lang="en-US" sz="2025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ct_money </a:t>
            </a: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− </a:t>
            </a:r>
            <a:r>
              <a:rPr lang="en-US" sz="2025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t_money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390650" y="3733800"/>
            <a:ext cx="727710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588770" y="3874770"/>
            <a:ext cx="7099173" cy="3276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money_ratio </a:t>
            </a: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= </a:t>
            </a:r>
            <a:r>
              <a:rPr lang="en-US" sz="2025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ct_money </a:t>
            </a: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/ </a:t>
            </a:r>
            <a:r>
              <a:rPr lang="en-US" sz="2025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t_money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277350" y="2308860"/>
            <a:ext cx="7962900" cy="3350895"/>
          </a:xfrm>
          <a:prstGeom prst="roundRect">
            <a:avLst>
              <a:gd name="adj" fmla="val 2843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620250" y="2613660"/>
            <a:ext cx="800481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75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ESTADO DE JOGO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620250" y="3028950"/>
            <a:ext cx="1725454" cy="502920"/>
          </a:xfrm>
          <a:prstGeom prst="roundRect">
            <a:avLst>
              <a:gd name="adj" fmla="val 15152"/>
            </a:avLst>
          </a:prstGeom>
          <a:solidFill>
            <a:srgbClr val="E7F1FF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791700" y="3143250"/>
            <a:ext cx="1458754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A58C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health_diff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460004" y="3028950"/>
            <a:ext cx="1599843" cy="502920"/>
          </a:xfrm>
          <a:prstGeom prst="roundRect">
            <a:avLst>
              <a:gd name="adj" fmla="val 15152"/>
            </a:avLst>
          </a:prstGeom>
          <a:solidFill>
            <a:srgbClr val="E7F1FF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631454" y="3143250"/>
            <a:ext cx="1333143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A58C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armor_diff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174147" y="3028950"/>
            <a:ext cx="2605326" cy="502920"/>
          </a:xfrm>
          <a:prstGeom prst="roundRect">
            <a:avLst>
              <a:gd name="adj" fmla="val 15152"/>
            </a:avLst>
          </a:prstGeom>
          <a:solidFill>
            <a:srgbClr val="E7F1FF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345597" y="3143250"/>
            <a:ext cx="2340585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A58C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players_alive_diff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20250" y="3684270"/>
            <a:ext cx="8004810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Diferenças (CT − T) que resumem a vantagem corrente.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1047750" y="5926455"/>
            <a:ext cx="7962900" cy="3598545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390650" y="6231255"/>
            <a:ext cx="800481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75" dirty="0">
                <a:solidFill>
                  <a:srgbClr val="C2670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ARMAMENTO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0650" y="6646545"/>
            <a:ext cx="2102525" cy="502920"/>
          </a:xfrm>
          <a:prstGeom prst="roundRect">
            <a:avLst>
              <a:gd name="adj" fmla="val 15152"/>
            </a:avLst>
          </a:prstGeom>
          <a:solidFill>
            <a:srgbClr val="FFF3E6"/>
          </a:solidFill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562100" y="6760845"/>
            <a:ext cx="1835825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2670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ct_rifle_count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607475" y="6646545"/>
            <a:ext cx="1976914" cy="502920"/>
          </a:xfrm>
          <a:prstGeom prst="roundRect">
            <a:avLst>
              <a:gd name="adj" fmla="val 15152"/>
            </a:avLst>
          </a:prstGeom>
          <a:solidFill>
            <a:srgbClr val="FFF3E6"/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778925" y="6760845"/>
            <a:ext cx="1710214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2670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t_rifle_count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698689" y="6646545"/>
            <a:ext cx="1599843" cy="502920"/>
          </a:xfrm>
          <a:prstGeom prst="roundRect">
            <a:avLst>
              <a:gd name="adj" fmla="val 15152"/>
            </a:avLst>
          </a:prstGeom>
          <a:solidFill>
            <a:srgbClr val="FFF3E6"/>
          </a:solidFill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870139" y="6760845"/>
            <a:ext cx="1333143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2670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ct_has_awp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390650" y="7263765"/>
            <a:ext cx="1474113" cy="502920"/>
          </a:xfrm>
          <a:prstGeom prst="roundRect">
            <a:avLst>
              <a:gd name="adj" fmla="val 15152"/>
            </a:avLst>
          </a:prstGeom>
          <a:solidFill>
            <a:srgbClr val="FFF3E6"/>
          </a:solidFill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562100" y="7378065"/>
            <a:ext cx="1207413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2670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t_has_awp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90650" y="7919085"/>
            <a:ext cx="8004810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Soma de rifles por lado; AWP como indicador binário.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9277350" y="5926455"/>
            <a:ext cx="7962900" cy="3598545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620250" y="6231255"/>
            <a:ext cx="800481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75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BUY TIER </a:t>
            </a:r>
            <a:r>
              <a:rPr lang="en-US" sz="1650" kern="0" spc="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CT_BUY_TIER · T_BUY_TIER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9620250" y="6646545"/>
            <a:ext cx="845225" cy="41910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7620">
            <a:solidFill>
              <a:srgbClr val="BBF7D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799320" y="6730365"/>
            <a:ext cx="563285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force</a:t>
            </a:r>
            <a:endParaRPr lang="en-US" sz="1725" dirty="0"/>
          </a:p>
        </p:txBody>
      </p:sp>
      <p:sp>
        <p:nvSpPr>
          <p:cNvPr id="35" name="Shape 33"/>
          <p:cNvSpPr/>
          <p:nvPr/>
        </p:nvSpPr>
        <p:spPr>
          <a:xfrm>
            <a:off x="10560725" y="6646545"/>
            <a:ext cx="711398" cy="41910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7620">
            <a:solidFill>
              <a:srgbClr val="BBF7D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0739795" y="6730365"/>
            <a:ext cx="429458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eco</a:t>
            </a:r>
            <a:endParaRPr lang="en-US" sz="1725" dirty="0"/>
          </a:p>
        </p:txBody>
      </p:sp>
      <p:sp>
        <p:nvSpPr>
          <p:cNvPr id="37" name="Shape 35"/>
          <p:cNvSpPr/>
          <p:nvPr/>
        </p:nvSpPr>
        <p:spPr>
          <a:xfrm>
            <a:off x="11367374" y="6646545"/>
            <a:ext cx="711398" cy="41910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7620">
            <a:solidFill>
              <a:srgbClr val="BBF7D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1546444" y="6730365"/>
            <a:ext cx="429458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half</a:t>
            </a:r>
            <a:endParaRPr lang="en-US" sz="1725" dirty="0"/>
          </a:p>
        </p:txBody>
      </p:sp>
      <p:sp>
        <p:nvSpPr>
          <p:cNvPr id="39" name="Shape 37"/>
          <p:cNvSpPr/>
          <p:nvPr/>
        </p:nvSpPr>
        <p:spPr>
          <a:xfrm>
            <a:off x="12174022" y="6646545"/>
            <a:ext cx="638294" cy="41910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7620">
            <a:solidFill>
              <a:srgbClr val="BBF7D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2353092" y="6730365"/>
            <a:ext cx="356354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</a:t>
            </a:r>
            <a:endParaRPr lang="en-US" sz="1725" dirty="0"/>
          </a:p>
        </p:txBody>
      </p:sp>
      <p:sp>
        <p:nvSpPr>
          <p:cNvPr id="41" name="Shape 39"/>
          <p:cNvSpPr/>
          <p:nvPr/>
        </p:nvSpPr>
        <p:spPr>
          <a:xfrm>
            <a:off x="12907566" y="6646545"/>
            <a:ext cx="942618" cy="41910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7620">
            <a:solidFill>
              <a:srgbClr val="BBF7D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13086636" y="6730365"/>
            <a:ext cx="660678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mixed</a:t>
            </a:r>
            <a:endParaRPr lang="en-US" sz="1725" dirty="0"/>
          </a:p>
        </p:txBody>
      </p:sp>
      <p:sp>
        <p:nvSpPr>
          <p:cNvPr id="43" name="Text 41"/>
          <p:cNvSpPr/>
          <p:nvPr/>
        </p:nvSpPr>
        <p:spPr>
          <a:xfrm>
            <a:off x="9620250" y="7198995"/>
            <a:ext cx="8004810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Categorização da compra a partir de </a:t>
            </a:r>
            <a:r>
              <a:rPr lang="en-US" sz="1725" i="1" dirty="0">
                <a:solidFill>
                  <a:srgbClr val="64748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team_money / 5</a:t>
            </a:r>
            <a:r>
              <a:rPr lang="en-US" sz="172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</a:t>
            </a:r>
            <a:endParaRPr lang="en-US" sz="17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PIPELINE SCIKIT-LEARN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9159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37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 dado bruto ao modelo treinado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327910"/>
            <a:ext cx="2923818" cy="1436370"/>
          </a:xfrm>
          <a:prstGeom prst="roundRect">
            <a:avLst>
              <a:gd name="adj" fmla="val 663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6724" y="2590800"/>
            <a:ext cx="285750" cy="285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7873" y="2952750"/>
            <a:ext cx="2763572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Snapshots brutos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27873" y="3288030"/>
            <a:ext cx="2763572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122.410 linhas</a:t>
            </a:r>
            <a:endParaRPr lang="en-US" sz="1425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9668" y="2903220"/>
            <a:ext cx="285750" cy="2857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33518" y="2327910"/>
            <a:ext cx="2923818" cy="1436370"/>
          </a:xfrm>
          <a:prstGeom prst="roundRect">
            <a:avLst>
              <a:gd name="adj" fmla="val 663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2492" y="2590800"/>
            <a:ext cx="285750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13641" y="2952750"/>
            <a:ext cx="2763572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Filtros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4413641" y="3288030"/>
            <a:ext cx="2763572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33.365</a:t>
            </a:r>
            <a:endParaRPr lang="en-US" sz="1425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95436" y="2903220"/>
            <a:ext cx="285750" cy="28575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619286" y="2327910"/>
            <a:ext cx="2923818" cy="1436370"/>
          </a:xfrm>
          <a:prstGeom prst="roundRect">
            <a:avLst>
              <a:gd name="adj" fmla="val 663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38260" y="2735580"/>
            <a:ext cx="285750" cy="2857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699409" y="3097530"/>
            <a:ext cx="2763572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 engineering</a:t>
            </a:r>
            <a:endParaRPr lang="en-US" sz="18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81204" y="2903220"/>
            <a:ext cx="285750" cy="28575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10905054" y="2327910"/>
            <a:ext cx="3049429" cy="1436370"/>
          </a:xfrm>
          <a:prstGeom prst="roundRect">
            <a:avLst>
              <a:gd name="adj" fmla="val 6631"/>
            </a:avLst>
          </a:prstGeom>
          <a:solidFill>
            <a:srgbClr val="E7F1FF"/>
          </a:solidFill>
          <a:ln w="15240">
            <a:solidFill>
              <a:srgbClr val="0D6EFD"/>
            </a:solidFill>
            <a:prstDash val="solid"/>
          </a:ln>
        </p:spPr>
        <p:txBody>
          <a:bodyPr/>
          <a:p/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286893" y="2590800"/>
            <a:ext cx="285750" cy="28575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0978896" y="2952750"/>
            <a:ext cx="2901744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58C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ColumnTransformer</a:t>
            </a:r>
            <a:endParaRPr lang="en-US" sz="1800" dirty="0"/>
          </a:p>
        </p:txBody>
      </p:sp>
      <p:sp>
        <p:nvSpPr>
          <p:cNvPr id="22" name="Text 13"/>
          <p:cNvSpPr/>
          <p:nvPr/>
        </p:nvSpPr>
        <p:spPr>
          <a:xfrm>
            <a:off x="10978896" y="3288030"/>
            <a:ext cx="2901744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0A58C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Scaler + OneHot</a:t>
            </a:r>
            <a:endParaRPr lang="en-US" sz="1425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992582" y="2903220"/>
            <a:ext cx="285750" cy="28575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14316432" y="2327910"/>
            <a:ext cx="2923818" cy="1436370"/>
          </a:xfrm>
          <a:prstGeom prst="roundRect">
            <a:avLst>
              <a:gd name="adj" fmla="val 6631"/>
            </a:avLst>
          </a:prstGeom>
          <a:solidFill>
            <a:srgbClr val="0F172A"/>
          </a:solidFill>
          <a:ln w="15240">
            <a:solidFill>
              <a:srgbClr val="0F172A"/>
            </a:solidFill>
            <a:prstDash val="solid"/>
          </a:ln>
        </p:spPr>
        <p:txBody>
          <a:bodyPr/>
          <a:p/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5635407" y="2590800"/>
            <a:ext cx="285750" cy="28575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4396556" y="2952750"/>
            <a:ext cx="2763572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GridSearchCV</a:t>
            </a:r>
            <a:endParaRPr lang="en-US" sz="1800" dirty="0"/>
          </a:p>
        </p:txBody>
      </p:sp>
      <p:sp>
        <p:nvSpPr>
          <p:cNvPr id="27" name="Text 16"/>
          <p:cNvSpPr/>
          <p:nvPr/>
        </p:nvSpPr>
        <p:spPr>
          <a:xfrm>
            <a:off x="14396556" y="3288030"/>
            <a:ext cx="2763572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modelo</a:t>
            </a:r>
            <a:endParaRPr lang="en-US" sz="1425" dirty="0"/>
          </a:p>
        </p:txBody>
      </p:sp>
      <p:sp>
        <p:nvSpPr>
          <p:cNvPr id="28" name="Shape 17"/>
          <p:cNvSpPr/>
          <p:nvPr/>
        </p:nvSpPr>
        <p:spPr>
          <a:xfrm>
            <a:off x="1047750" y="4145280"/>
            <a:ext cx="5232321" cy="5379720"/>
          </a:xfrm>
          <a:prstGeom prst="roundRect">
            <a:avLst>
              <a:gd name="adj" fmla="val 1820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9" name="Text 18"/>
          <p:cNvSpPr/>
          <p:nvPr/>
        </p:nvSpPr>
        <p:spPr>
          <a:xfrm>
            <a:off x="1352550" y="4411980"/>
            <a:ext cx="5084993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StandardScaler</a:t>
            </a:r>
            <a:endParaRPr lang="en-US" sz="1650" dirty="0"/>
          </a:p>
        </p:txBody>
      </p:sp>
      <p:sp>
        <p:nvSpPr>
          <p:cNvPr id="30" name="Shape 19"/>
          <p:cNvSpPr/>
          <p:nvPr/>
        </p:nvSpPr>
        <p:spPr>
          <a:xfrm>
            <a:off x="1352550" y="4770120"/>
            <a:ext cx="4622721" cy="586740"/>
          </a:xfrm>
          <a:prstGeom prst="roundRect">
            <a:avLst>
              <a:gd name="adj" fmla="val 1298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Text 20"/>
          <p:cNvSpPr/>
          <p:nvPr/>
        </p:nvSpPr>
        <p:spPr>
          <a:xfrm>
            <a:off x="1462279" y="4911090"/>
            <a:ext cx="4403262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z </a:t>
            </a:r>
            <a:r>
              <a:rPr lang="en-US" sz="2100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= (</a:t>
            </a:r>
            <a:r>
              <a:rPr lang="en-US" sz="210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x </a:t>
            </a:r>
            <a:r>
              <a:rPr lang="en-US" sz="2100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− μ) / σ</a:t>
            </a:r>
            <a:endParaRPr lang="en-US" sz="2100" dirty="0"/>
          </a:p>
        </p:txBody>
      </p:sp>
      <p:sp>
        <p:nvSpPr>
          <p:cNvPr id="32" name="Text 21"/>
          <p:cNvSpPr/>
          <p:nvPr/>
        </p:nvSpPr>
        <p:spPr>
          <a:xfrm>
            <a:off x="1352550" y="5471160"/>
            <a:ext cx="4761402" cy="5105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Necessário para KNN e SVM (baseados em distância).</a:t>
            </a:r>
            <a:endParaRPr lang="en-US" sz="1575" dirty="0"/>
          </a:p>
        </p:txBody>
      </p:sp>
      <p:sp>
        <p:nvSpPr>
          <p:cNvPr id="33" name="Shape 22"/>
          <p:cNvSpPr/>
          <p:nvPr/>
        </p:nvSpPr>
        <p:spPr>
          <a:xfrm>
            <a:off x="6527721" y="4145280"/>
            <a:ext cx="5232440" cy="5379720"/>
          </a:xfrm>
          <a:prstGeom prst="roundRect">
            <a:avLst>
              <a:gd name="adj" fmla="val 1820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4" name="Text 23"/>
          <p:cNvSpPr/>
          <p:nvPr/>
        </p:nvSpPr>
        <p:spPr>
          <a:xfrm>
            <a:off x="6832521" y="4411980"/>
            <a:ext cx="5085124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OneHotEncoder</a:t>
            </a:r>
            <a:endParaRPr lang="en-US" sz="1650" dirty="0"/>
          </a:p>
        </p:txBody>
      </p:sp>
      <p:sp>
        <p:nvSpPr>
          <p:cNvPr id="35" name="Text 24"/>
          <p:cNvSpPr/>
          <p:nvPr/>
        </p:nvSpPr>
        <p:spPr>
          <a:xfrm>
            <a:off x="6832521" y="4770120"/>
            <a:ext cx="4761525" cy="5410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Mapa e buy tier → variáveis </a:t>
            </a:r>
            <a:r>
              <a:rPr lang="en-US" sz="1725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dummy </a:t>
            </a:r>
            <a:r>
              <a:rPr lang="en-US" sz="172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binárias, sem ordem implícita.</a:t>
            </a:r>
            <a:endParaRPr lang="en-US" sz="1725" dirty="0"/>
          </a:p>
        </p:txBody>
      </p:sp>
      <p:sp>
        <p:nvSpPr>
          <p:cNvPr id="36" name="Shape 25"/>
          <p:cNvSpPr/>
          <p:nvPr/>
        </p:nvSpPr>
        <p:spPr>
          <a:xfrm>
            <a:off x="12007810" y="4145280"/>
            <a:ext cx="5232440" cy="5379720"/>
          </a:xfrm>
          <a:prstGeom prst="roundRect">
            <a:avLst>
              <a:gd name="adj" fmla="val 1820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7" name="Text 26"/>
          <p:cNvSpPr/>
          <p:nvPr/>
        </p:nvSpPr>
        <p:spPr>
          <a:xfrm>
            <a:off x="12312610" y="4411980"/>
            <a:ext cx="5085124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Validação</a:t>
            </a:r>
            <a:endParaRPr lang="en-US" sz="1650" dirty="0"/>
          </a:p>
        </p:txBody>
      </p:sp>
      <p:sp>
        <p:nvSpPr>
          <p:cNvPr id="38" name="Text 27"/>
          <p:cNvSpPr/>
          <p:nvPr/>
        </p:nvSpPr>
        <p:spPr>
          <a:xfrm>
            <a:off x="12312610" y="4770120"/>
            <a:ext cx="4761525" cy="5410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Split </a:t>
            </a:r>
            <a:r>
              <a:rPr lang="en-US" sz="1725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80/20 </a:t>
            </a:r>
            <a:r>
              <a:rPr lang="en-US" sz="172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estratificado · GridSearchCV </a:t>
            </a:r>
            <a:r>
              <a:rPr lang="en-US" sz="1725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 = 3 </a:t>
            </a:r>
            <a:r>
              <a:rPr lang="en-US" sz="172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F1 (classif.) / RMSE (regr.)</a:t>
            </a:r>
            <a:endParaRPr lang="en-US" sz="17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3198495"/>
            <a:ext cx="17811750" cy="1924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500" b="1" kern="0" spc="-3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III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1047750" y="5313045"/>
            <a:ext cx="17811750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4D9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PARTE III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5747385"/>
            <a:ext cx="12753975" cy="13792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Modelagem, métricas, resultados e conclusão</a:t>
            </a:r>
            <a:endParaRPr lang="en-US" sz="4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MODELOS DE CLASSIFICAÇÃO · 1 DE 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9159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37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Regressão Logística e SVM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308860"/>
            <a:ext cx="7905750" cy="7216140"/>
          </a:xfrm>
          <a:prstGeom prst="roundRect">
            <a:avLst>
              <a:gd name="adj" fmla="val 1320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428750" y="2689860"/>
            <a:ext cx="785812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Regressão Logística </a:t>
            </a:r>
            <a:r>
              <a:rPr lang="en-US" sz="1650" b="1" dirty="0">
                <a:solidFill>
                  <a:srgbClr val="0D6EFD"/>
                </a:solidFill>
                <a:highlight>
                  <a:srgbClr val="E7F1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baseline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28750" y="3185160"/>
            <a:ext cx="7858125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Modelo linear probabilístico, interpretável; assume relação log-linear.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28750" y="3714750"/>
            <a:ext cx="7143750" cy="1298496"/>
          </a:xfrm>
          <a:prstGeom prst="roundRect">
            <a:avLst>
              <a:gd name="adj" fmla="val 7335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57814" y="3950970"/>
            <a:ext cx="6885623" cy="86415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</a:t>
            </a: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(</a:t>
            </a:r>
            <a:r>
              <a:rPr lang="en-US" sz="22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y</a:t>
            </a: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=1|</a:t>
            </a:r>
            <a:r>
              <a:rPr lang="en-US" sz="22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x</a:t>
            </a: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) = </a:t>
            </a:r>
            <a:r>
              <a:rPr lang="en-US" sz="225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 1 + </a:t>
            </a:r>
            <a:r>
              <a:rPr lang="en-US" sz="22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</a:t>
            </a:r>
            <a:r>
              <a:rPr lang="en-US" sz="1875" baseline="3000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−(β₀ + β</a:t>
            </a:r>
            <a:r>
              <a:rPr lang="en-US" sz="1560" baseline="3000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</a:t>
            </a:r>
            <a:r>
              <a:rPr lang="en-US" sz="1875" baseline="3000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x)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428750" y="8100060"/>
            <a:ext cx="3495675" cy="1043940"/>
          </a:xfrm>
          <a:prstGeom prst="roundRect">
            <a:avLst>
              <a:gd name="adj" fmla="val 9124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463516" y="8290560"/>
            <a:ext cx="3426143" cy="4800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0,771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463516" y="8732520"/>
            <a:ext cx="3426143" cy="259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76825" y="8100060"/>
            <a:ext cx="3495675" cy="1043940"/>
          </a:xfrm>
          <a:prstGeom prst="roundRect">
            <a:avLst>
              <a:gd name="adj" fmla="val 9124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111591" y="8290560"/>
            <a:ext cx="3426143" cy="4800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0,878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111591" y="8732520"/>
            <a:ext cx="3426143" cy="259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ROC-AUC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334500" y="2308860"/>
            <a:ext cx="7905750" cy="7216140"/>
          </a:xfrm>
          <a:prstGeom prst="roundRect">
            <a:avLst>
              <a:gd name="adj" fmla="val 1320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715500" y="2689860"/>
            <a:ext cx="785812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SVM </a:t>
            </a:r>
            <a:r>
              <a:rPr lang="en-US" sz="18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kernel RBF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715500" y="3185160"/>
            <a:ext cx="7358063" cy="9982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Hiperplano de margem máxima; o kernel RBF mapeia para um espaço não linear. Treinada em subamostra de </a:t>
            </a:r>
            <a:r>
              <a:rPr lang="en-US" sz="18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6.000 </a:t>
            </a: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(custo computacional).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715500" y="4354830"/>
            <a:ext cx="7143750" cy="864870"/>
          </a:xfrm>
          <a:prstGeom prst="roundRect">
            <a:avLst>
              <a:gd name="adj" fmla="val 11013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844564" y="4591050"/>
            <a:ext cx="6885623" cy="4305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</a:t>
            </a: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(</a:t>
            </a:r>
            <a:r>
              <a:rPr lang="en-US" sz="22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x</a:t>
            </a: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, </a:t>
            </a:r>
            <a:r>
              <a:rPr lang="en-US" sz="22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x</a:t>
            </a: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′) = exp(−γ‖</a:t>
            </a:r>
            <a:r>
              <a:rPr lang="en-US" sz="22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x </a:t>
            </a: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− </a:t>
            </a:r>
            <a:r>
              <a:rPr lang="en-US" sz="22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x</a:t>
            </a: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′‖</a:t>
            </a:r>
            <a:r>
              <a:rPr lang="en-US" sz="1875" baseline="3000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r>
              <a:rPr lang="en-US" sz="2250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)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715500" y="8100060"/>
            <a:ext cx="3495675" cy="1043940"/>
          </a:xfrm>
          <a:prstGeom prst="roundRect">
            <a:avLst>
              <a:gd name="adj" fmla="val 9124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750266" y="8290560"/>
            <a:ext cx="3426143" cy="4800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0,784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750266" y="8732520"/>
            <a:ext cx="3426143" cy="259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F1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3363575" y="8100060"/>
            <a:ext cx="3495675" cy="1043940"/>
          </a:xfrm>
          <a:prstGeom prst="roundRect">
            <a:avLst>
              <a:gd name="adj" fmla="val 9124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3398341" y="8290560"/>
            <a:ext cx="3426143" cy="4800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0,881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3398341" y="8732520"/>
            <a:ext cx="3426143" cy="259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ROC-AUC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MODELOS DE CLASSIFICAÇÃO · 2 DE 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9159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37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KNN e Random Forest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308860"/>
            <a:ext cx="7905750" cy="7216140"/>
          </a:xfrm>
          <a:prstGeom prst="roundRect">
            <a:avLst>
              <a:gd name="adj" fmla="val 1320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428750" y="2689860"/>
            <a:ext cx="785812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KNN </a:t>
            </a:r>
            <a:r>
              <a:rPr lang="en-US" sz="180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K vizinhos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28750" y="3185160"/>
            <a:ext cx="7358063" cy="678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Classifica pelo voto dos K vizinhos mais próximos. GridSearch: K ∈ {5, 11, 21} → </a:t>
            </a:r>
            <a:r>
              <a:rPr lang="en-US" sz="18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melhor K = 5</a:t>
            </a: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28750" y="4034790"/>
            <a:ext cx="7143750" cy="754380"/>
          </a:xfrm>
          <a:prstGeom prst="roundRect">
            <a:avLst>
              <a:gd name="adj" fmla="val 12626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38764" y="4213860"/>
            <a:ext cx="6923723" cy="4343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025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</a:t>
            </a: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(</a:t>
            </a:r>
            <a:r>
              <a:rPr lang="en-US" sz="2025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x</a:t>
            </a: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,</a:t>
            </a:r>
            <a:r>
              <a:rPr lang="en-US" sz="2025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x</a:t>
            </a: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′) = √(Σ(</a:t>
            </a:r>
            <a:r>
              <a:rPr lang="en-US" sz="2025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x</a:t>
            </a:r>
            <a:r>
              <a:rPr lang="en-US" sz="1690" baseline="-4000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 </a:t>
            </a: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− </a:t>
            </a:r>
            <a:r>
              <a:rPr lang="en-US" sz="2025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x</a:t>
            </a: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′</a:t>
            </a:r>
            <a:r>
              <a:rPr lang="en-US" sz="1690" baseline="-4000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</a:t>
            </a: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)</a:t>
            </a:r>
            <a:r>
              <a:rPr lang="en-US" sz="1690" baseline="3000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)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428750" y="4903470"/>
            <a:ext cx="7143750" cy="647700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538764" y="5082540"/>
            <a:ext cx="6923723" cy="3276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025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ŷ </a:t>
            </a:r>
            <a:r>
              <a:rPr lang="en-US" sz="2025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= moda dos K rótulos vizinhos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428750" y="8100060"/>
            <a:ext cx="3495675" cy="1043940"/>
          </a:xfrm>
          <a:prstGeom prst="roundRect">
            <a:avLst>
              <a:gd name="adj" fmla="val 9124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463516" y="8290560"/>
            <a:ext cx="3426143" cy="4800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0,863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463516" y="8732520"/>
            <a:ext cx="3426143" cy="259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76825" y="8100060"/>
            <a:ext cx="3495675" cy="1043940"/>
          </a:xfrm>
          <a:prstGeom prst="roundRect">
            <a:avLst>
              <a:gd name="adj" fmla="val 9124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111591" y="8290560"/>
            <a:ext cx="3426143" cy="4800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0,938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111591" y="8732520"/>
            <a:ext cx="3426143" cy="259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ROC-AUC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34500" y="2308860"/>
            <a:ext cx="7905750" cy="7216140"/>
          </a:xfrm>
          <a:prstGeom prst="roundRect">
            <a:avLst>
              <a:gd name="adj" fmla="val 1320"/>
            </a:avLst>
          </a:prstGeom>
          <a:gradFill rotWithShape="1">
            <a:gsLst>
              <a:gs pos="0">
                <a:srgbClr val="059669">
                  <a:alpha val="100000"/>
                </a:srgbClr>
              </a:gs>
              <a:gs pos="100000">
                <a:srgbClr val="047857">
                  <a:alpha val="100000"/>
                </a:srgbClr>
              </a:gs>
            </a:gsLst>
            <a:lin ang="5400000" scaled="0"/>
          </a:gradFill>
          <a:effectLst>
            <a:outerShdw blurRad="228600" dist="76200" dir="5400000" algn="bl" rotWithShape="0">
              <a:srgbClr val="047857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715500" y="2695575"/>
            <a:ext cx="2458938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4778037" y="2689860"/>
            <a:ext cx="2081212" cy="35433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4930438" y="2756535"/>
            <a:ext cx="1852612" cy="259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38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MELHOR MODELO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15500" y="3196590"/>
            <a:ext cx="7358063" cy="9982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D1FA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Ensemble de árvores (bootstrap + subset de features); predição por </a:t>
            </a: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voto majoritário </a:t>
            </a:r>
            <a:r>
              <a:rPr lang="en-US" sz="1800" dirty="0">
                <a:solidFill>
                  <a:srgbClr val="D1FA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 Captura interações mapa × economia × armamento.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715500" y="4366260"/>
            <a:ext cx="2292310" cy="1143000"/>
          </a:xfrm>
          <a:prstGeom prst="roundRect">
            <a:avLst>
              <a:gd name="adj" fmla="val 8333"/>
            </a:avLst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831389" y="4575810"/>
            <a:ext cx="2060531" cy="5410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0,899</a:t>
            </a:r>
            <a:endParaRPr lang="en-US" sz="3450" dirty="0"/>
          </a:p>
        </p:txBody>
      </p:sp>
      <p:sp>
        <p:nvSpPr>
          <p:cNvPr id="25" name="Text 23"/>
          <p:cNvSpPr/>
          <p:nvPr/>
        </p:nvSpPr>
        <p:spPr>
          <a:xfrm>
            <a:off x="9831389" y="5078730"/>
            <a:ext cx="2060531" cy="259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D1FA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F1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141160" y="4366260"/>
            <a:ext cx="2292429" cy="1143000"/>
          </a:xfrm>
          <a:prstGeom prst="roundRect">
            <a:avLst>
              <a:gd name="adj" fmla="val 8333"/>
            </a:avLst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2257044" y="4575810"/>
            <a:ext cx="2060662" cy="5410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0,970</a:t>
            </a:r>
            <a:endParaRPr lang="en-US" sz="3450" dirty="0"/>
          </a:p>
        </p:txBody>
      </p:sp>
      <p:sp>
        <p:nvSpPr>
          <p:cNvPr id="28" name="Text 26"/>
          <p:cNvSpPr/>
          <p:nvPr/>
        </p:nvSpPr>
        <p:spPr>
          <a:xfrm>
            <a:off x="12257044" y="5078730"/>
            <a:ext cx="2060662" cy="259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D1FA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ROC-AUC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4566940" y="4366260"/>
            <a:ext cx="2292310" cy="1143000"/>
          </a:xfrm>
          <a:prstGeom prst="roundRect">
            <a:avLst>
              <a:gd name="adj" fmla="val 8333"/>
            </a:avLst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4682829" y="4575810"/>
            <a:ext cx="2060531" cy="5410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0,901</a:t>
            </a:r>
            <a:endParaRPr lang="en-US" sz="3450" dirty="0"/>
          </a:p>
        </p:txBody>
      </p:sp>
      <p:sp>
        <p:nvSpPr>
          <p:cNvPr id="31" name="Text 29"/>
          <p:cNvSpPr/>
          <p:nvPr/>
        </p:nvSpPr>
        <p:spPr>
          <a:xfrm>
            <a:off x="14682829" y="5078730"/>
            <a:ext cx="2060531" cy="259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D1FA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715500" y="8641080"/>
            <a:ext cx="7358063" cy="5410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D1FA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Combina centenas de árvores fracas em um classificador robusto e pouco sensível a outliers.</a:t>
            </a:r>
            <a:endParaRPr lang="en-US" sz="17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AVALIAÇÃO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9159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37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Métricas e suas fórmulas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270760"/>
            <a:ext cx="8724900" cy="7292340"/>
          </a:xfrm>
          <a:prstGeom prst="roundRect">
            <a:avLst>
              <a:gd name="adj" fmla="val 1306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47750" y="2270760"/>
            <a:ext cx="8724900" cy="45720"/>
          </a:xfrm>
          <a:prstGeom prst="rect">
            <a:avLst/>
          </a:prstGeom>
          <a:solidFill>
            <a:srgbClr val="0D6EFD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09700" y="2640330"/>
            <a:ext cx="8801100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CLASSIFICAÇÃO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09700" y="3108960"/>
            <a:ext cx="3924300" cy="902970"/>
          </a:xfrm>
          <a:prstGeom prst="roundRect">
            <a:avLst>
              <a:gd name="adj" fmla="val 84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88770" y="3268980"/>
            <a:ext cx="3922776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88770" y="3577590"/>
            <a:ext cx="3146185" cy="3124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(TP+TN) / (TP+TN+FP+FN)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5486400" y="3108960"/>
            <a:ext cx="3924300" cy="902970"/>
          </a:xfrm>
          <a:prstGeom prst="roundRect">
            <a:avLst>
              <a:gd name="adj" fmla="val 84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665470" y="3268980"/>
            <a:ext cx="3922776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5470" y="3577590"/>
            <a:ext cx="1622346" cy="3124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TP / (TP + FP)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409700" y="4164330"/>
            <a:ext cx="3924300" cy="902970"/>
          </a:xfrm>
          <a:prstGeom prst="roundRect">
            <a:avLst>
              <a:gd name="adj" fmla="val 84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588770" y="4324350"/>
            <a:ext cx="3922776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88770" y="4632960"/>
            <a:ext cx="1659731" cy="3124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TP / (TP + FN)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5486400" y="4164330"/>
            <a:ext cx="3924300" cy="902970"/>
          </a:xfrm>
          <a:prstGeom prst="roundRect">
            <a:avLst>
              <a:gd name="adj" fmla="val 84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665470" y="4324350"/>
            <a:ext cx="3922776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5470" y="4632960"/>
            <a:ext cx="2048352" cy="3124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 · (P · R) / (P + R)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409700" y="5238750"/>
            <a:ext cx="8001000" cy="922020"/>
          </a:xfrm>
          <a:prstGeom prst="roundRect">
            <a:avLst>
              <a:gd name="adj" fmla="val 8264"/>
            </a:avLst>
          </a:prstGeom>
          <a:solidFill>
            <a:srgbClr val="E7F1FF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619250" y="5410200"/>
            <a:ext cx="7821930" cy="6172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A3A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ROC-AUC </a:t>
            </a:r>
            <a:r>
              <a:rPr lang="en-US" sz="1725" dirty="0">
                <a:solidFill>
                  <a:srgbClr val="0A3A7A"/>
                </a:solidFill>
                <a:highlight>
                  <a:srgbClr val="E7F1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área sob a curva TPR × FPR; mede a capacidade de </a:t>
            </a:r>
            <a:r>
              <a:rPr lang="en-US" sz="1725" b="1" dirty="0">
                <a:solidFill>
                  <a:srgbClr val="0A3A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ranquear probabilidades </a:t>
            </a:r>
            <a:r>
              <a:rPr lang="en-US" sz="1725" dirty="0">
                <a:solidFill>
                  <a:srgbClr val="0A3A7A"/>
                </a:solidFill>
                <a:highlight>
                  <a:srgbClr val="E7F1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, independente do limiar.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0115550" y="2270760"/>
            <a:ext cx="7124700" cy="7292340"/>
          </a:xfrm>
          <a:prstGeom prst="roundRect">
            <a:avLst>
              <a:gd name="adj" fmla="val 1337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115550" y="2270760"/>
            <a:ext cx="7124700" cy="45720"/>
          </a:xfrm>
          <a:prstGeom prst="rect">
            <a:avLst/>
          </a:prstGeom>
          <a:solidFill>
            <a:srgbClr val="E67E22"/>
          </a:solidFill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477500" y="2640330"/>
            <a:ext cx="7040880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C2670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REGRESSÃO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477500" y="3108960"/>
            <a:ext cx="6400800" cy="998220"/>
          </a:xfrm>
          <a:prstGeom prst="roundRect">
            <a:avLst>
              <a:gd name="adj" fmla="val 7634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694670" y="3288030"/>
            <a:ext cx="6563106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694670" y="3596640"/>
            <a:ext cx="99262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(1/n) Σ |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1611095" y="3596640"/>
            <a:ext cx="214789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y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1749683" y="3691890"/>
            <a:ext cx="136684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5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</a:t>
            </a:r>
            <a:endParaRPr lang="en-US" sz="1625" dirty="0"/>
          </a:p>
        </p:txBody>
      </p:sp>
      <p:sp>
        <p:nvSpPr>
          <p:cNvPr id="30" name="Text 28"/>
          <p:cNvSpPr/>
          <p:nvPr/>
        </p:nvSpPr>
        <p:spPr>
          <a:xfrm>
            <a:off x="11869817" y="3596640"/>
            <a:ext cx="23562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−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089011" y="3596640"/>
            <a:ext cx="214789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ŷ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2227600" y="3691890"/>
            <a:ext cx="136684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5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</a:t>
            </a:r>
            <a:endParaRPr lang="en-US" sz="1625" dirty="0"/>
          </a:p>
        </p:txBody>
      </p:sp>
      <p:sp>
        <p:nvSpPr>
          <p:cNvPr id="33" name="Text 31"/>
          <p:cNvSpPr/>
          <p:nvPr/>
        </p:nvSpPr>
        <p:spPr>
          <a:xfrm>
            <a:off x="12288084" y="3596640"/>
            <a:ext cx="169069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|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477500" y="4259580"/>
            <a:ext cx="6400800" cy="1050250"/>
          </a:xfrm>
          <a:prstGeom prst="roundRect">
            <a:avLst>
              <a:gd name="adj" fmla="val 7255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694670" y="4438650"/>
            <a:ext cx="6563106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RMSE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694670" y="4799290"/>
            <a:ext cx="1251109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√( (1/n) Σ(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1869579" y="4799290"/>
            <a:ext cx="214789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y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2008168" y="4894540"/>
            <a:ext cx="136684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5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</a:t>
            </a:r>
            <a:endParaRPr lang="en-US" sz="1625" dirty="0"/>
          </a:p>
        </p:txBody>
      </p:sp>
      <p:sp>
        <p:nvSpPr>
          <p:cNvPr id="39" name="Text 37"/>
          <p:cNvSpPr/>
          <p:nvPr/>
        </p:nvSpPr>
        <p:spPr>
          <a:xfrm>
            <a:off x="12128302" y="4799290"/>
            <a:ext cx="235625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−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2347496" y="4799290"/>
            <a:ext cx="214789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ŷ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2486084" y="4894540"/>
            <a:ext cx="136684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5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</a:t>
            </a:r>
            <a:endParaRPr lang="en-US" sz="1625" dirty="0"/>
          </a:p>
        </p:txBody>
      </p:sp>
      <p:sp>
        <p:nvSpPr>
          <p:cNvPr id="42" name="Text 40"/>
          <p:cNvSpPr/>
          <p:nvPr/>
        </p:nvSpPr>
        <p:spPr>
          <a:xfrm>
            <a:off x="12546568" y="4799290"/>
            <a:ext cx="169069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)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2639437" y="4747260"/>
            <a:ext cx="191572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5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625" dirty="0"/>
          </a:p>
        </p:txBody>
      </p:sp>
      <p:sp>
        <p:nvSpPr>
          <p:cNvPr id="44" name="Text 42"/>
          <p:cNvSpPr/>
          <p:nvPr/>
        </p:nvSpPr>
        <p:spPr>
          <a:xfrm>
            <a:off x="12814459" y="4799290"/>
            <a:ext cx="169189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)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10477500" y="5462231"/>
            <a:ext cx="6400800" cy="998220"/>
          </a:xfrm>
          <a:prstGeom prst="roundRect">
            <a:avLst>
              <a:gd name="adj" fmla="val 7634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10694670" y="5641300"/>
            <a:ext cx="6563106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R²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0694670" y="5949911"/>
            <a:ext cx="832127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1 − (SS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1450598" y="6045161"/>
            <a:ext cx="349687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5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</a:t>
            </a:r>
            <a:endParaRPr lang="en-US" sz="1625" dirty="0"/>
          </a:p>
        </p:txBody>
      </p:sp>
      <p:sp>
        <p:nvSpPr>
          <p:cNvPr id="49" name="Text 47"/>
          <p:cNvSpPr/>
          <p:nvPr/>
        </p:nvSpPr>
        <p:spPr>
          <a:xfrm>
            <a:off x="11783735" y="5949911"/>
            <a:ext cx="530065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/ SS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2237601" y="6045161"/>
            <a:ext cx="329922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5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tot</a:t>
            </a:r>
            <a:endParaRPr lang="en-US" sz="1625" dirty="0"/>
          </a:p>
        </p:txBody>
      </p:sp>
      <p:sp>
        <p:nvSpPr>
          <p:cNvPr id="51" name="Text 49"/>
          <p:cNvSpPr/>
          <p:nvPr/>
        </p:nvSpPr>
        <p:spPr>
          <a:xfrm>
            <a:off x="12491324" y="5949911"/>
            <a:ext cx="169069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)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10477500" y="6612850"/>
            <a:ext cx="7040880" cy="34956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SS</a:t>
            </a:r>
            <a:r>
              <a:rPr lang="en-US" sz="1315" baseline="-40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 </a:t>
            </a:r>
            <a:r>
              <a:rPr lang="en-US" sz="15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= Σ(</a:t>
            </a:r>
            <a:r>
              <a:rPr lang="en-US" sz="1575" i="1" dirty="0">
                <a:solidFill>
                  <a:srgbClr val="64748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y</a:t>
            </a:r>
            <a:r>
              <a:rPr lang="en-US" sz="1315" baseline="-40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 </a:t>
            </a:r>
            <a:r>
              <a:rPr lang="en-US" sz="15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− </a:t>
            </a:r>
            <a:r>
              <a:rPr lang="en-US" sz="1575" i="1" dirty="0">
                <a:solidFill>
                  <a:srgbClr val="64748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ŷ</a:t>
            </a:r>
            <a:r>
              <a:rPr lang="en-US" sz="1315" baseline="-40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</a:t>
            </a:r>
            <a:r>
              <a:rPr lang="en-US" sz="15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)² · SS</a:t>
            </a:r>
            <a:r>
              <a:rPr lang="en-US" sz="1315" baseline="-40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 </a:t>
            </a:r>
            <a:r>
              <a:rPr lang="en-US" sz="15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= Σ(</a:t>
            </a:r>
            <a:r>
              <a:rPr lang="en-US" sz="1575" i="1" dirty="0">
                <a:solidFill>
                  <a:srgbClr val="64748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y</a:t>
            </a:r>
            <a:r>
              <a:rPr lang="en-US" sz="1315" baseline="-40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 </a:t>
            </a:r>
            <a:r>
              <a:rPr lang="en-US" sz="15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− </a:t>
            </a:r>
            <a:r>
              <a:rPr lang="en-US" sz="1575" i="1" dirty="0">
                <a:solidFill>
                  <a:srgbClr val="64748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ȳ</a:t>
            </a:r>
            <a:r>
              <a:rPr lang="en-US" sz="15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)²</a:t>
            </a:r>
            <a:endParaRPr lang="en-US" sz="15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RESULTADOS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9159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37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Classificação dos quatro modelos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308860"/>
            <a:ext cx="7727752" cy="3695700"/>
          </a:xfrm>
          <a:prstGeom prst="roundRect">
            <a:avLst>
              <a:gd name="adj" fmla="val 2577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47750" y="2308860"/>
            <a:ext cx="7727752" cy="56388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47750" y="2865120"/>
            <a:ext cx="7727752" cy="9525"/>
          </a:xfrm>
          <a:prstGeom prst="rect">
            <a:avLst/>
          </a:prstGeom>
          <a:solidFill>
            <a:srgbClr val="E2E8F0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33500" y="2480310"/>
            <a:ext cx="2847261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MODELO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3845790" y="2480310"/>
            <a:ext cx="1674828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 kern="0" spc="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5368362" y="2480310"/>
            <a:ext cx="1674828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 kern="0" spc="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F1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6890927" y="2480310"/>
            <a:ext cx="1674959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 kern="0" spc="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ROC-AUC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047750" y="3649980"/>
            <a:ext cx="7727752" cy="9525"/>
          </a:xfrm>
          <a:prstGeom prst="rect">
            <a:avLst/>
          </a:prstGeom>
          <a:solidFill>
            <a:srgbClr val="EEF2F6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33500" y="3120390"/>
            <a:ext cx="2847261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Regressão Logística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845790" y="3120390"/>
            <a:ext cx="1674828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0,776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368362" y="3120390"/>
            <a:ext cx="1674828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0,771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890927" y="3120390"/>
            <a:ext cx="1674959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0,878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47750" y="3657600"/>
            <a:ext cx="7727752" cy="784860"/>
          </a:xfrm>
          <a:prstGeom prst="rect">
            <a:avLst/>
          </a:prstGeom>
          <a:solidFill>
            <a:srgbClr val="FAFAFA"/>
          </a:solidFill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47750" y="4434840"/>
            <a:ext cx="7727752" cy="9525"/>
          </a:xfrm>
          <a:prstGeom prst="rect">
            <a:avLst/>
          </a:prstGeom>
          <a:solidFill>
            <a:srgbClr val="EEF2F6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333500" y="3905250"/>
            <a:ext cx="2847261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SVM (RBF)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3845790" y="3905250"/>
            <a:ext cx="1674828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0,785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5368362" y="3905250"/>
            <a:ext cx="1674828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0,784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890927" y="3905250"/>
            <a:ext cx="1674959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0,881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5219700"/>
            <a:ext cx="7727752" cy="9525"/>
          </a:xfrm>
          <a:prstGeom prst="rect">
            <a:avLst/>
          </a:prstGeom>
          <a:solidFill>
            <a:srgbClr val="EEF2F6"/>
          </a:solidFill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333500" y="4690110"/>
            <a:ext cx="2847261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KNN </a:t>
            </a:r>
            <a:r>
              <a:rPr lang="en-US" sz="13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(K=5)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3845790" y="4690110"/>
            <a:ext cx="1674828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0,866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5368362" y="4690110"/>
            <a:ext cx="1674828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0,863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6890927" y="4690110"/>
            <a:ext cx="1674959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0,938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47750" y="5227320"/>
            <a:ext cx="7727752" cy="777240"/>
          </a:xfrm>
          <a:prstGeom prst="rect">
            <a:avLst/>
          </a:prstGeom>
          <a:solidFill>
            <a:srgbClr val="F0FDF4"/>
          </a:solidFill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333500" y="5474970"/>
            <a:ext cx="2847261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3845790" y="5474970"/>
            <a:ext cx="1674828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0,901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5368362" y="5474970"/>
            <a:ext cx="1674828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0,899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6890927" y="5474970"/>
            <a:ext cx="1674959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0,970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9156502" y="2308860"/>
            <a:ext cx="8083748" cy="7216140"/>
          </a:xfrm>
          <a:prstGeom prst="roundRect">
            <a:avLst>
              <a:gd name="adj" fmla="val 1320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518452" y="2632710"/>
            <a:ext cx="8095833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F1-score por modelo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518452" y="2933700"/>
            <a:ext cx="8095833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escala 0 – 1</a:t>
            </a:r>
            <a:endParaRPr lang="en-US" sz="1425" dirty="0"/>
          </a:p>
        </p:txBody>
      </p:sp>
      <p:sp>
        <p:nvSpPr>
          <p:cNvPr id="36" name="Text 34"/>
          <p:cNvSpPr/>
          <p:nvPr/>
        </p:nvSpPr>
        <p:spPr>
          <a:xfrm>
            <a:off x="9518452" y="4728210"/>
            <a:ext cx="1540585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Reg. Logística</a:t>
            </a:r>
            <a:endParaRPr lang="en-US" sz="1725" dirty="0"/>
          </a:p>
        </p:txBody>
      </p:sp>
      <p:sp>
        <p:nvSpPr>
          <p:cNvPr id="37" name="Text 35"/>
          <p:cNvSpPr/>
          <p:nvPr/>
        </p:nvSpPr>
        <p:spPr>
          <a:xfrm>
            <a:off x="16330017" y="4728210"/>
            <a:ext cx="624483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0,771</a:t>
            </a:r>
            <a:endParaRPr lang="en-US" sz="1725" dirty="0"/>
          </a:p>
        </p:txBody>
      </p:sp>
      <p:sp>
        <p:nvSpPr>
          <p:cNvPr id="38" name="Shape 36"/>
          <p:cNvSpPr/>
          <p:nvPr/>
        </p:nvSpPr>
        <p:spPr>
          <a:xfrm>
            <a:off x="9518452" y="5055870"/>
            <a:ext cx="7359848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518452" y="5055870"/>
            <a:ext cx="5674400" cy="285750"/>
          </a:xfrm>
          <a:prstGeom prst="roundRect">
            <a:avLst>
              <a:gd name="adj" fmla="val 20000"/>
            </a:avLst>
          </a:prstGeom>
          <a:solidFill>
            <a:srgbClr val="94A3B8"/>
          </a:solidFill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518452" y="5570220"/>
            <a:ext cx="1195864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SVM (RBF)</a:t>
            </a:r>
            <a:endParaRPr lang="en-US" sz="1725" dirty="0"/>
          </a:p>
        </p:txBody>
      </p:sp>
      <p:sp>
        <p:nvSpPr>
          <p:cNvPr id="41" name="Text 39"/>
          <p:cNvSpPr/>
          <p:nvPr/>
        </p:nvSpPr>
        <p:spPr>
          <a:xfrm>
            <a:off x="16330017" y="5570220"/>
            <a:ext cx="624483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0,784</a:t>
            </a:r>
            <a:endParaRPr lang="en-US" sz="1725" dirty="0"/>
          </a:p>
        </p:txBody>
      </p:sp>
      <p:sp>
        <p:nvSpPr>
          <p:cNvPr id="42" name="Shape 40"/>
          <p:cNvSpPr/>
          <p:nvPr/>
        </p:nvSpPr>
        <p:spPr>
          <a:xfrm>
            <a:off x="9518452" y="5897880"/>
            <a:ext cx="7359848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9518452" y="5897880"/>
            <a:ext cx="5770007" cy="285750"/>
          </a:xfrm>
          <a:prstGeom prst="roundRect">
            <a:avLst>
              <a:gd name="adj" fmla="val 20000"/>
            </a:avLst>
          </a:prstGeom>
          <a:solidFill>
            <a:srgbClr val="94A3B8"/>
          </a:solidFill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518452" y="6412230"/>
            <a:ext cx="1141571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KNN </a:t>
            </a:r>
            <a:r>
              <a:rPr lang="en-US" sz="1725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(K=5)</a:t>
            </a:r>
            <a:endParaRPr lang="en-US" sz="1725" dirty="0"/>
          </a:p>
        </p:txBody>
      </p:sp>
      <p:sp>
        <p:nvSpPr>
          <p:cNvPr id="45" name="Text 43"/>
          <p:cNvSpPr/>
          <p:nvPr/>
        </p:nvSpPr>
        <p:spPr>
          <a:xfrm>
            <a:off x="16330017" y="6412230"/>
            <a:ext cx="624483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0,863</a:t>
            </a:r>
            <a:endParaRPr lang="en-US" sz="1725" dirty="0"/>
          </a:p>
        </p:txBody>
      </p:sp>
      <p:sp>
        <p:nvSpPr>
          <p:cNvPr id="46" name="Shape 44"/>
          <p:cNvSpPr/>
          <p:nvPr/>
        </p:nvSpPr>
        <p:spPr>
          <a:xfrm>
            <a:off x="9518452" y="6739890"/>
            <a:ext cx="7359848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9518452" y="6739890"/>
            <a:ext cx="6351508" cy="285750"/>
          </a:xfrm>
          <a:prstGeom prst="roundRect">
            <a:avLst>
              <a:gd name="adj" fmla="val 20000"/>
            </a:avLst>
          </a:prstGeom>
          <a:solidFill>
            <a:srgbClr val="64748B"/>
          </a:solidFill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9518452" y="7254240"/>
            <a:ext cx="1767423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</a:t>
            </a:r>
            <a:endParaRPr lang="en-US" sz="1725" dirty="0"/>
          </a:p>
        </p:txBody>
      </p:sp>
      <p:sp>
        <p:nvSpPr>
          <p:cNvPr id="49" name="Text 47"/>
          <p:cNvSpPr/>
          <p:nvPr/>
        </p:nvSpPr>
        <p:spPr>
          <a:xfrm>
            <a:off x="16330017" y="7254240"/>
            <a:ext cx="624483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0,899</a:t>
            </a:r>
            <a:endParaRPr lang="en-US" sz="1725" dirty="0"/>
          </a:p>
        </p:txBody>
      </p:sp>
      <p:sp>
        <p:nvSpPr>
          <p:cNvPr id="50" name="Shape 48"/>
          <p:cNvSpPr/>
          <p:nvPr/>
        </p:nvSpPr>
        <p:spPr>
          <a:xfrm>
            <a:off x="9518452" y="7581900"/>
            <a:ext cx="7359848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9518452" y="7581900"/>
            <a:ext cx="6616422" cy="28575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59669">
                  <a:alpha val="100000"/>
                </a:srgbClr>
              </a:gs>
              <a:gs pos="100000">
                <a:srgbClr val="047857">
                  <a:alpha val="100000"/>
                </a:srgbClr>
              </a:gs>
            </a:gsLst>
            <a:lin ang="5400000" scaled="0"/>
          </a:gradFill>
        </p:spPr>
        <p:txBody>
          <a:bodyPr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C2670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TAREFA COMPLEMENTAR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9159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37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Regressão de money_diff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308860"/>
            <a:ext cx="4036338" cy="1556980"/>
          </a:xfrm>
          <a:prstGeom prst="roundRect">
            <a:avLst>
              <a:gd name="adj" fmla="val 6118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33500" y="2575560"/>
            <a:ext cx="3811322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Regressão Linear </a:t>
            </a:r>
            <a:r>
              <a:rPr lang="en-US" sz="1425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baseline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333500" y="2983230"/>
            <a:ext cx="3464838" cy="615910"/>
          </a:xfrm>
          <a:prstGeom prst="roundRect">
            <a:avLst>
              <a:gd name="adj" fmla="val 12372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60597" y="3124200"/>
            <a:ext cx="3210643" cy="3720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i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ŷ </a:t>
            </a:r>
            <a:r>
              <a:rPr lang="en-US" sz="1950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= β₀ + β</a:t>
            </a:r>
            <a:r>
              <a:rPr lang="en-US" sz="1625" baseline="30000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</a:t>
            </a:r>
            <a:r>
              <a:rPr lang="en-US" sz="1950" dirty="0">
                <a:solidFill>
                  <a:srgbClr val="0F172A"/>
                </a:solidFill>
                <a:highlight>
                  <a:srgbClr val="F8FAFC"/>
                </a:highlight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x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293638" y="2308860"/>
            <a:ext cx="4036338" cy="1556980"/>
          </a:xfrm>
          <a:prstGeom prst="roundRect">
            <a:avLst>
              <a:gd name="adj" fmla="val 6118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579388" y="2575560"/>
            <a:ext cx="3811322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 Regressor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5579388" y="2983230"/>
            <a:ext cx="3568783" cy="624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Ensemble de árvores para valor contínuo — média das predições.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4094440"/>
            <a:ext cx="8282226" cy="1920240"/>
          </a:xfrm>
          <a:prstGeom prst="roundRect">
            <a:avLst>
              <a:gd name="adj" fmla="val 4960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47750" y="4094440"/>
            <a:ext cx="8282226" cy="52578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47750" y="4612600"/>
            <a:ext cx="8282226" cy="9525"/>
          </a:xfrm>
          <a:prstGeom prst="rect">
            <a:avLst/>
          </a:prstGeom>
          <a:solidFill>
            <a:srgbClr val="E2E8F0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14450" y="4246840"/>
            <a:ext cx="2964740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MODELO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3925443" y="4246840"/>
            <a:ext cx="1852946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 kern="0" spc="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MAE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5609939" y="4246840"/>
            <a:ext cx="1852946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 kern="0" spc="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RMSE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7294436" y="4246840"/>
            <a:ext cx="1852946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 kern="0" spc="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R²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1047750" y="5313640"/>
            <a:ext cx="8282226" cy="9525"/>
          </a:xfrm>
          <a:prstGeom prst="rect">
            <a:avLst/>
          </a:prstGeom>
          <a:solidFill>
            <a:srgbClr val="EEF2F6"/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314450" y="4829770"/>
            <a:ext cx="2964740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Regressão Linear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3925443" y="4829770"/>
            <a:ext cx="1852946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4.794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5609939" y="4829770"/>
            <a:ext cx="1852946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6.944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7294436" y="4829770"/>
            <a:ext cx="1852946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0,689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047750" y="5321261"/>
            <a:ext cx="8282226" cy="693420"/>
          </a:xfrm>
          <a:prstGeom prst="rect">
            <a:avLst/>
          </a:prstGeom>
          <a:solidFill>
            <a:srgbClr val="F0FDF4"/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314450" y="5530811"/>
            <a:ext cx="2964740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3925443" y="5530811"/>
            <a:ext cx="1852946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3.440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5609939" y="5530811"/>
            <a:ext cx="1852946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5.744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7294436" y="5530811"/>
            <a:ext cx="1852946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0,787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750" y="6243281"/>
            <a:ext cx="8282226" cy="1040130"/>
          </a:xfrm>
          <a:prstGeom prst="rect">
            <a:avLst/>
          </a:prstGeom>
          <a:solidFill>
            <a:srgbClr val="E7F1FF"/>
          </a:solidFill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7750" y="6243281"/>
            <a:ext cx="45720" cy="1040130"/>
          </a:xfrm>
          <a:prstGeom prst="rect">
            <a:avLst/>
          </a:prstGeom>
          <a:solidFill>
            <a:srgbClr val="0D6EFD"/>
          </a:solidFill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360170" y="6452831"/>
            <a:ext cx="7951573" cy="659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0A3A7A"/>
                </a:solidFill>
                <a:highlight>
                  <a:srgbClr val="E7F1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Exclusão de </a:t>
            </a:r>
            <a:r>
              <a:rPr lang="en-US" sz="1725" dirty="0">
                <a:solidFill>
                  <a:srgbClr val="0A3A7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ct_money, t_money, money_diff, money_ratio </a:t>
            </a:r>
            <a:r>
              <a:rPr lang="en-US" sz="1725" dirty="0">
                <a:solidFill>
                  <a:srgbClr val="0A3A7A"/>
                </a:solidFill>
                <a:highlight>
                  <a:srgbClr val="E7F1FF"/>
                </a:highligh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treino (REGRESSION_EXCLUDE) para evitar leakage do alvo.</a:t>
            </a:r>
            <a:endParaRPr lang="en-US" sz="1725" dirty="0"/>
          </a:p>
        </p:txBody>
      </p:sp>
      <p:sp>
        <p:nvSpPr>
          <p:cNvPr id="32" name="Shape 30"/>
          <p:cNvSpPr/>
          <p:nvPr/>
        </p:nvSpPr>
        <p:spPr>
          <a:xfrm>
            <a:off x="9710976" y="2308860"/>
            <a:ext cx="7529275" cy="7091839"/>
          </a:xfrm>
          <a:prstGeom prst="roundRect">
            <a:avLst>
              <a:gd name="adj" fmla="val 134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1"/>
          <a:srcRect t="-70" b="-70"/>
          <a:stretch>
            <a:fillRect/>
          </a:stretch>
        </p:blipFill>
        <p:spPr>
          <a:xfrm>
            <a:off x="9710976" y="2308860"/>
            <a:ext cx="7529275" cy="7091839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9334512" y="9495949"/>
            <a:ext cx="8282202" cy="259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Valor real × previsto (money_diff)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857250"/>
            <a:ext cx="1781175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DISCUSSÃO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3444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37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Análise e interpretação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194560"/>
            <a:ext cx="5245061" cy="5478780"/>
          </a:xfrm>
          <a:prstGeom prst="roundRect">
            <a:avLst>
              <a:gd name="adj" fmla="val 181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 t="-1403" b="-1403"/>
          <a:stretch>
            <a:fillRect/>
          </a:stretch>
        </p:blipFill>
        <p:spPr>
          <a:xfrm>
            <a:off x="1047750" y="2194560"/>
            <a:ext cx="5245061" cy="54787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5497" y="7749540"/>
            <a:ext cx="5769567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Curva ROC — classificação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6521411" y="2194560"/>
            <a:ext cx="5245179" cy="5478780"/>
          </a:xfrm>
          <a:prstGeom prst="roundRect">
            <a:avLst>
              <a:gd name="adj" fmla="val 181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rcRect t="-9329" b="-9329"/>
          <a:stretch>
            <a:fillRect/>
          </a:stretch>
        </p:blipFill>
        <p:spPr>
          <a:xfrm>
            <a:off x="6521411" y="2194560"/>
            <a:ext cx="5245179" cy="54787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59152" y="7749540"/>
            <a:ext cx="5769697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Matriz de confusão — RF</a:t>
            </a:r>
            <a:endParaRPr lang="en-US" sz="1425" dirty="0"/>
          </a:p>
        </p:txBody>
      </p:sp>
      <p:sp>
        <p:nvSpPr>
          <p:cNvPr id="11" name="Shape 7"/>
          <p:cNvSpPr/>
          <p:nvPr/>
        </p:nvSpPr>
        <p:spPr>
          <a:xfrm>
            <a:off x="11995190" y="2194560"/>
            <a:ext cx="5245061" cy="5478780"/>
          </a:xfrm>
          <a:prstGeom prst="roundRect">
            <a:avLst>
              <a:gd name="adj" fmla="val 181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rcRect t="-34645" b="-34645"/>
          <a:stretch>
            <a:fillRect/>
          </a:stretch>
        </p:blipFill>
        <p:spPr>
          <a:xfrm>
            <a:off x="11995190" y="2194560"/>
            <a:ext cx="5245061" cy="54787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732937" y="7749540"/>
            <a:ext cx="5769567" cy="2514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Importância de features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1047750" y="8210550"/>
            <a:ext cx="5245061" cy="135255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1314450" y="8439150"/>
            <a:ext cx="5182826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Por que o RF venceu</a:t>
            </a:r>
            <a:endParaRPr lang="en-US" sz="1725" dirty="0"/>
          </a:p>
        </p:txBody>
      </p:sp>
      <p:sp>
        <p:nvSpPr>
          <p:cNvPr id="16" name="Text 11"/>
          <p:cNvSpPr/>
          <p:nvPr/>
        </p:nvSpPr>
        <p:spPr>
          <a:xfrm>
            <a:off x="1314450" y="8747760"/>
            <a:ext cx="4853010" cy="624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Interações não lineares entre features categóricas e numéricas.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6521411" y="8210550"/>
            <a:ext cx="5245179" cy="135255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6788111" y="8439150"/>
            <a:ext cx="5182958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Features mais relevantes</a:t>
            </a:r>
            <a:endParaRPr lang="en-US" sz="1725" dirty="0"/>
          </a:p>
        </p:txBody>
      </p:sp>
      <p:sp>
        <p:nvSpPr>
          <p:cNvPr id="19" name="Text 14"/>
          <p:cNvSpPr/>
          <p:nvPr/>
        </p:nvSpPr>
        <p:spPr>
          <a:xfrm>
            <a:off x="6788111" y="8747760"/>
            <a:ext cx="4853133" cy="624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Economia, armamento e mapa lideram a importância.</a:t>
            </a:r>
            <a:endParaRPr lang="en-US" sz="1650" dirty="0"/>
          </a:p>
        </p:txBody>
      </p:sp>
      <p:sp>
        <p:nvSpPr>
          <p:cNvPr id="20" name="Shape 15"/>
          <p:cNvSpPr/>
          <p:nvPr/>
        </p:nvSpPr>
        <p:spPr>
          <a:xfrm>
            <a:off x="11995190" y="8210550"/>
            <a:ext cx="5245061" cy="1352550"/>
          </a:xfrm>
          <a:prstGeom prst="roundRect">
            <a:avLst>
              <a:gd name="adj" fmla="val 7042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12261890" y="8439150"/>
            <a:ext cx="5182826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Economia importa, mas não basta</a:t>
            </a:r>
            <a:endParaRPr lang="en-US" sz="1725" dirty="0"/>
          </a:p>
        </p:txBody>
      </p:sp>
      <p:sp>
        <p:nvSpPr>
          <p:cNvPr id="22" name="Text 17"/>
          <p:cNvSpPr/>
          <p:nvPr/>
        </p:nvSpPr>
        <p:spPr>
          <a:xfrm>
            <a:off x="12261890" y="8747760"/>
            <a:ext cx="5182826" cy="331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0A45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~60% </a:t>
            </a:r>
            <a:r>
              <a:rPr lang="en-US" sz="16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heurística → </a:t>
            </a:r>
            <a:r>
              <a:rPr lang="en-US" sz="165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~90% </a:t>
            </a:r>
            <a:r>
              <a:rPr lang="en-US" sz="16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AVALIAÇÃO CRÍTICA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9159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37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Limitações do estudo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366010"/>
            <a:ext cx="7962900" cy="3446145"/>
          </a:xfrm>
          <a:prstGeom prst="roundRect">
            <a:avLst>
              <a:gd name="adj" fmla="val 2764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8750" y="2747010"/>
            <a:ext cx="323850" cy="323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2150" y="2708910"/>
            <a:ext cx="6904804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Dados de 2019–2020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962150" y="3070860"/>
            <a:ext cx="6904804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CS:GO, não CS2 — meta e economia mudaram desde então.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277350" y="2366010"/>
            <a:ext cx="7962900" cy="3446145"/>
          </a:xfrm>
          <a:prstGeom prst="roundRect">
            <a:avLst>
              <a:gd name="adj" fmla="val 2764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8350" y="2747010"/>
            <a:ext cx="323850" cy="3238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191750" y="2708910"/>
            <a:ext cx="7334250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Sem ID de round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0191750" y="3070860"/>
            <a:ext cx="6867525" cy="678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Possível overlap entre treino e teste (snapshots do mesmo round).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047750" y="6078855"/>
            <a:ext cx="7962900" cy="3446145"/>
          </a:xfrm>
          <a:prstGeom prst="roundRect">
            <a:avLst>
              <a:gd name="adj" fmla="val 2764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8750" y="6459855"/>
            <a:ext cx="323850" cy="3238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62150" y="6421755"/>
            <a:ext cx="6112966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SVM em subamostra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1962150" y="6783705"/>
            <a:ext cx="6112966" cy="358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Treinada em 6.000 exemplos por custo computacional.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9277350" y="6078855"/>
            <a:ext cx="7962900" cy="3446145"/>
          </a:xfrm>
          <a:prstGeom prst="roundRect">
            <a:avLst>
              <a:gd name="adj" fmla="val 2764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8350" y="6459855"/>
            <a:ext cx="323850" cy="3238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191750" y="6421755"/>
            <a:ext cx="7334250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Buy tier é proxy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10191750" y="6783705"/>
            <a:ext cx="6867525" cy="678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Média de $/jogador; o bônus de derrota (loss bonus) está ausente.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4D9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CONCLUSÃO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9159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37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 que foi alcançado</a:t>
            </a:r>
            <a:endParaRPr lang="en-US" sz="4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750" y="2371725"/>
            <a:ext cx="285750" cy="285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5900" y="2366010"/>
            <a:ext cx="6655000" cy="3276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EDA, pré-processamento e pipeline reproduzível (Colab)</a:t>
            </a:r>
            <a:endParaRPr lang="en-US" sz="2025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750" y="2840355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5900" y="2834640"/>
            <a:ext cx="6330877" cy="3276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Comparação sistemática de quatro modelos clássicos</a:t>
            </a:r>
            <a:endParaRPr lang="en-US" sz="202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7750" y="3308985"/>
            <a:ext cx="285750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85900" y="3303270"/>
            <a:ext cx="6635992" cy="3276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Avaliação padronizada por métricas e validação cruzada</a:t>
            </a:r>
            <a:endParaRPr lang="en-US" sz="2025" dirty="0"/>
          </a:p>
        </p:txBody>
      </p:sp>
      <p:sp>
        <p:nvSpPr>
          <p:cNvPr id="11" name="Shape 6"/>
          <p:cNvSpPr/>
          <p:nvPr/>
        </p:nvSpPr>
        <p:spPr>
          <a:xfrm>
            <a:off x="1047750" y="3905250"/>
            <a:ext cx="8208764" cy="1623060"/>
          </a:xfrm>
          <a:prstGeom prst="roundRect">
            <a:avLst>
              <a:gd name="adj" fmla="val 5869"/>
            </a:avLst>
          </a:prstGeom>
          <a:gradFill rotWithShape="1">
            <a:gsLst>
              <a:gs pos="0">
                <a:srgbClr val="059669">
                  <a:alpha val="100000"/>
                </a:srgbClr>
              </a:gs>
              <a:gs pos="100000">
                <a:srgbClr val="047857">
                  <a:alpha val="100000"/>
                </a:srgbClr>
              </a:gs>
            </a:gsLst>
            <a:lin ang="5400000" scaled="0"/>
          </a:gradFill>
          <a:effectLst>
            <a:outerShdw blurRad="228600" dist="76200" dir="5400000" algn="bl" rotWithShape="0">
              <a:srgbClr val="047857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2" name="Text 7"/>
          <p:cNvSpPr/>
          <p:nvPr/>
        </p:nvSpPr>
        <p:spPr>
          <a:xfrm>
            <a:off x="1371600" y="4191000"/>
            <a:ext cx="8317170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1FA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Melhor modelo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371600" y="4488180"/>
            <a:ext cx="831717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 — F1 0,899 · AUC 0,970</a:t>
            </a:r>
            <a:endParaRPr lang="en-US" sz="2850" dirty="0"/>
          </a:p>
        </p:txBody>
      </p:sp>
      <p:sp>
        <p:nvSpPr>
          <p:cNvPr id="14" name="Text 9"/>
          <p:cNvSpPr/>
          <p:nvPr/>
        </p:nvSpPr>
        <p:spPr>
          <a:xfrm>
            <a:off x="1371600" y="4983480"/>
            <a:ext cx="8317170" cy="2971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1FA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 ML agrega valor real sobre a heurística de economia (~60% → ~90%).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9637514" y="2366010"/>
            <a:ext cx="7602736" cy="7158990"/>
          </a:xfrm>
          <a:prstGeom prst="roundRect">
            <a:avLst>
              <a:gd name="adj" fmla="val 1330"/>
            </a:avLst>
          </a:prstGeom>
          <a:solidFill>
            <a:srgbClr val="1E293B"/>
          </a:solidFill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10018514" y="2747010"/>
            <a:ext cx="752481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90" dirty="0">
                <a:solidFill>
                  <a:srgbClr val="4D9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TRABALHOS FUTUROS</a:t>
            </a:r>
            <a:endParaRPr lang="en-US" sz="16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8514" y="3276600"/>
            <a:ext cx="266700" cy="2667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437614" y="3238500"/>
            <a:ext cx="4694706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Estender para </a:t>
            </a:r>
            <a:r>
              <a:rPr lang="en-US" sz="1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CS2 </a:t>
            </a:r>
            <a:r>
              <a:rPr lang="en-US" sz="195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 a economia atual</a:t>
            </a:r>
            <a:endParaRPr lang="en-US" sz="19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18514" y="3790950"/>
            <a:ext cx="266700" cy="2667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437614" y="3752850"/>
            <a:ext cx="5888224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Split agrupado por round </a:t>
            </a:r>
            <a:r>
              <a:rPr lang="en-US" sz="195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para eliminar overlap</a:t>
            </a:r>
            <a:endParaRPr lang="en-US" sz="19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18514" y="4305300"/>
            <a:ext cx="266700" cy="2667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437614" y="4267200"/>
            <a:ext cx="6511111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Dashboard </a:t>
            </a:r>
            <a:r>
              <a:rPr lang="en-US" sz="195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 probabilidade de vitória em tempo real</a:t>
            </a:r>
            <a:endParaRPr lang="en-US" sz="1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A"/>
          </a:solidFill>
        </p:spPr>
        <p:txBody>
          <a:bodyPr/>
          <a:p>
            <a:endParaRPr lang="pt-BR" altLang="en-US"/>
          </a:p>
        </p:txBody>
      </p:sp>
      <p:sp>
        <p:nvSpPr>
          <p:cNvPr id="3" name="Text 1"/>
          <p:cNvSpPr/>
          <p:nvPr/>
        </p:nvSpPr>
        <p:spPr>
          <a:xfrm>
            <a:off x="1047750" y="914400"/>
            <a:ext cx="1781175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13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REFERÊNCIAS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9159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37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Referências (ABNT resumido)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327910"/>
            <a:ext cx="5685747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75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DADOS E DOMÍNIO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1047750" y="2735580"/>
            <a:ext cx="5323926" cy="624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LILLELUND, C. </a:t>
            </a:r>
            <a:r>
              <a:rPr lang="en-US" sz="1650" i="1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CS:GO Round Winner Classification </a:t>
            </a:r>
            <a:r>
              <a:rPr lang="en-US" sz="16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 Kaggle, 2020.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47750" y="3493770"/>
            <a:ext cx="5685747" cy="331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Skybox AI Challenge</a:t>
            </a:r>
            <a:r>
              <a:rPr lang="en-US" sz="16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 Conjunto de demos profissionais.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3958590"/>
            <a:ext cx="5323926" cy="624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HIEMSTRA. Abordagem Bayesiana para predição de round, 2021.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47750" y="4716780"/>
            <a:ext cx="5685747" cy="331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GHOSH. </a:t>
            </a:r>
            <a:r>
              <a:rPr lang="en-US" sz="1650" i="1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CSGOPredictor</a:t>
            </a:r>
            <a:r>
              <a:rPr lang="en-US" sz="16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 Repositório GitHub.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47750" y="5181600"/>
            <a:ext cx="5685747" cy="331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XENOPOULOS, P. et al. CS:GO analytics. </a:t>
            </a:r>
            <a:r>
              <a:rPr lang="en-US" sz="1650" i="1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KDD</a:t>
            </a:r>
            <a:r>
              <a:rPr lang="en-US" sz="16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, 2022.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59511" y="2327910"/>
            <a:ext cx="5685747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75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MÉTODOS CLÁSSICOS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6559511" y="2735580"/>
            <a:ext cx="5323926" cy="624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BREIMAN, L. Random Forests. </a:t>
            </a:r>
            <a:r>
              <a:rPr lang="en-US" sz="1650" i="1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Machine Learning </a:t>
            </a:r>
            <a:r>
              <a:rPr lang="en-US" sz="16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, 2001.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59511" y="3493770"/>
            <a:ext cx="5323926" cy="624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CORTES, C.; VAPNIK, V. Support-Vector Networks. </a:t>
            </a:r>
            <a:r>
              <a:rPr lang="en-US" sz="1650" i="1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Machine Learning</a:t>
            </a:r>
            <a:r>
              <a:rPr lang="en-US" sz="16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, 1995.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559511" y="4251960"/>
            <a:ext cx="5323926" cy="624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COVER, T.; HART, P. Nearest Neighbor Pattern Classification. </a:t>
            </a:r>
            <a:r>
              <a:rPr lang="en-US" sz="1650" i="1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IEEE</a:t>
            </a:r>
            <a:r>
              <a:rPr lang="en-US" sz="16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, 1967.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071271" y="2327910"/>
            <a:ext cx="5685747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75" dirty="0">
                <a:solidFill>
                  <a:srgbClr val="0D6E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FERRAMENTAS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2071271" y="2735580"/>
            <a:ext cx="5323926" cy="624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PEDREGOSA, F. et al. Scikit-learn: Machine Learning in Python. </a:t>
            </a:r>
            <a:r>
              <a:rPr lang="en-US" sz="1650" i="1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JMLR</a:t>
            </a:r>
            <a:r>
              <a:rPr lang="en-US" sz="16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, 2011.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2071271" y="3646170"/>
            <a:ext cx="5168861" cy="1985010"/>
          </a:xfrm>
          <a:prstGeom prst="roundRect">
            <a:avLst>
              <a:gd name="adj" fmla="val 4798"/>
            </a:avLst>
          </a:prstGeom>
          <a:solidFill>
            <a:srgbClr val="FFFFFF"/>
          </a:solidFill>
          <a:effectLst>
            <a:outerShdw blurRad="152400" dist="76200" dir="5400000" algn="bl" rotWithShape="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337971" y="3893820"/>
            <a:ext cx="5099006" cy="259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REPRODUÇÃO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37971" y="4210050"/>
            <a:ext cx="4774524" cy="624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pt-BR" sz="1650" dirty="0"/>
              <a:t>https://github.com/carloseduardob/projeto-machine-learning-csgo</a:t>
            </a:r>
            <a:endParaRPr lang="en-US" altLang="pt-BR" sz="1650" dirty="0"/>
          </a:p>
        </p:txBody>
      </p:sp>
      <p:sp>
        <p:nvSpPr>
          <p:cNvPr id="20" name="Text 18"/>
          <p:cNvSpPr/>
          <p:nvPr/>
        </p:nvSpPr>
        <p:spPr>
          <a:xfrm>
            <a:off x="12337971" y="4911090"/>
            <a:ext cx="4774524" cy="5105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Colab → COLAB_PROJETO-COMPLETO.ipynb → Runtime → Executar tudo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8152</Words>
  <Application>WPS Presentation</Application>
  <PresentationFormat>On-screen Show (16:9)</PresentationFormat>
  <Paragraphs>717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1" baseType="lpstr">
      <vt:lpstr>Arial</vt:lpstr>
      <vt:lpstr>SimSun</vt:lpstr>
      <vt:lpstr>Wingdings</vt:lpstr>
      <vt:lpstr>Arial</vt:lpstr>
      <vt:lpstr>Arial</vt:lpstr>
      <vt:lpstr>Consolas</vt:lpstr>
      <vt:lpstr>Consolas</vt:lpstr>
      <vt:lpstr>Consolas</vt:lpstr>
      <vt:lpstr>Georgia</vt:lpstr>
      <vt:lpstr>Georgia</vt:lpstr>
      <vt:lpstr>Georgia</vt:lpstr>
      <vt:lpstr>Courier New</vt:lpstr>
      <vt:lpstr>Courier New</vt:lpstr>
      <vt:lpstr>Courier New</vt:lpstr>
      <vt:lpstr>Calibri</vt:lpstr>
      <vt:lpstr>Microsoft YaHei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TI-002</cp:lastModifiedBy>
  <cp:revision>2</cp:revision>
  <dcterms:created xsi:type="dcterms:W3CDTF">2026-06-23T00:43:00Z</dcterms:created>
  <dcterms:modified xsi:type="dcterms:W3CDTF">2026-06-23T00:48:32Z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1E2CC0B5E10349E5880AAEA899B40443_12</vt:lpwstr>
  </property>
  <property fmtid="{D5CDD505-2E9C-101B-9397-08002B2CF9AE}" pid="3" name="KSOProductBuildVer">
    <vt:lpwstr>1046-12.1.0.26880</vt:lpwstr>
  </property>
</Properties>
</file>