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trabalho trata da predição do vencedor de cada round de CS:GO a partir do estado econômico e do armamento das equipes. A proposta central é comparar de forma sistemática diferentes modelos de Machine Learning clássico sobre um mesmo pipeline reproduzível. Todo o experimento pode ser reexecutado no Google Colab com um único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está organizada em três blocos. Primeiro, o problema e a exploração dos dados. Depois, todo o pré-processamento e a construção das features. Por fim, a modelagem, as métricas e os resultados comparativos. Há um slide de transição antes de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pela parte um: o problema que queremos resolver, o contexto do jogo e o que a exploração dos dados nos revelou.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CS:GO é um jogo competitivo cinco contra cinco, com dois lados: Counter-Terrorists e Terrorists. A unidade de análise do trabalho é o round. A cada round, uma economia virtual define o que cada time pode comprar — rifles, AWP, colete e granadas. Hoje, boa parte dessas decisões táticas é tomada de forma subjetiva, sem apoio quantitativo.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Formalizamos o problema de duas maneiras. A tarefa principal é uma classificação binária: dado o vetor de features X com o estado do round, prever o vencedor — codificamos T vence como um e CT vence como zero. Como tarefa complementar, tratamos uma regressão sobre a diferença de dinheiro entre os times, money_diff, um valor contínuo em dólares.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hipótese de partida é simples: se apenas o dinheiro decidisse o round, a heurística time com mais dinheiro vence seria suficiente — mas nos dados ela acerta só cerca de sessenta e meio por cento. A aposta é que o Machine Learning, integrando dezenas de variáveis e relações não lineares, supera essa heurística. Os dados vêm do Kaggle, originados do Skybox AI Challenge, com cerca de setecentas demos profissionais de 2019 e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exploração mostra classes bem equilibradas — cerca de cinquenta e um por cento de vitórias do T contra quarenta e nove do CT. A economia correlaciona com a vitória, mas não a determina sozinha; mapa, presença de AWP, bomba plantada e o buy tier também influenciam. O ponto crítico é o data leakage: como há vários snapshots por round, usar instantes avançados vazaria informação sobre o desfecho — por isso usamos apenas o início do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já foi abordado por outros. O Skybox AI Challenge originou os dados e o Lillelund os tornou públicos no Kaggle. Hiemstra aplicou uma abordagem Bayesiana sobre o mesmo CSV, um método diferente do nosso. Projetos do GitHub, como os de Ghosh e o CSGOPredictor, usaram Regressão Logística e Random Forest. Nosso posicionamento é a comparação sistemática de modelos clássicos sobre um pipeline reproduzível.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dois: como os dados brutos foram transformados numa matriz de features adequada ao scikit-learn, evitando vazamento e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do pré-processamento é transformar snapshots brutos numa matriz limpa e evitar o vazamento temporal. Aplicamos quatro filtros: manter apenas o início do round, com pelo menos cento e cinquenta segundos restantes; exigir os cinco jogadores vivos de cada lado, garantindo um snapshot cinco contra cinco; e excluir o mapa de_cache, raro demais. O resultado leva a base de cento e vinte e dois mil para trinta e três mil linhas de modelagem.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engenharia de features cria variáveis derivadas mais informativas. Das econômicas, money_diff e money_ratio. Do estado de jogo, as diferenças de vida, colete e jogadores vivos. Do armamento, a contagem de rifles por lado e indicadores binários de AWP. E o buy tier, categorizando a compra em força, eco, meia, cheia ou mista a partir do dinheiro médio por jogador.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o fluxo é encapsulado num pipeline do scikit-learn. As features numéricas passam por StandardScaler — essencial para KNN e SVM, que dependem de distância — e as categóricas, mapa e buy tier, por OneHotEncoder. Em seguida, dividimos em oitenta por cento treino e vinte por cento teste, com estratificação na classificação. Os hiperparâmetros são ajustados por GridSearchCV com validação cruzada de três folds, otimizando F1 na classificação e RMSE na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três: os modelos avaliados, suas fundamentações teóricas, as métricas, os resultados comparativos e 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baseline é a Regressão Logística, um modelo linear probabilístico e interpretável que assume relação log-linear entre features e log-odds — atinge F1 de zero vírgula setecentos e setenta e um. A SVM com kernel RBF busca o hiperplano de margem máxima e usa o kernel para capturar não linearidades; pelo custo computacional, foi treinada numa subamostra de seis mil exemplos, com F1 de zero vírgula setecentos e oitenta e quatro. Ambos ficam na mesma faixa, em torno de zero vírgula oitenta e oito de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KNN, com K igual a cinco escolhido pela busca em grade e features padronizadas, classifica pelo voto dos vizinhos mais próximos por distância euclidiana. Ele ficou em segundo lugar — F1 de zero vírgula oitenta e seis e ROC-AUC de zero vírgula noventa e quatro, bem acima de Regressão Logística e SVM. O Random Forest, porém, foi o melhor modelo: um ensemble de árvores em amostras bootstrap e subconjuntos de features, com voto majoritário, que captura melhor as interações entre mapa, economia e armamento e atinge F1 de zero vírgula noventa e ROC-AUC de zero vírgula noventa e sete.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métricas seguem o padrão da literatura. Na classificação: accuracy, precision e recall a partir da matriz de confusão; o F1, média harmônica entre precision e recall; e a ROC-AUC, que mede a capacidade de ranquear probabilidades, independente do limiar. Na regressão: o erro médio absoluto, a raiz do erro quadrático médio e o R², que indica a fração da variância explicada pelo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Comparando os quatro classificadores nas mesmas condições, surge uma hierarquia clara. Regressão Logística e SVM ficam na faixa de zero vírgula setenta e sete a zero vírgula setenta e oito de F1. O KNN, com K igual a cinco, sobe para zero vírgula oitenta e seis, em segundo lugar. E o Random Forest se destaca no topo, com F1 de zero vírgula noventa e ROC-AUC de zero vírgula noventa e sete — capturando melhor as interações entre mapa, economia e armamento. Todos os valores vêm da mesma execução reproduzível no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tarefa complementar de regressão, prevemos o money_diff a partir das demais features — excluindo as variáveis que vazariam o alvo. A Regressão Linear serve de baseline e o Random Forest Regressor melhora todas as métricas: o erro absoluto médio cai de cerca de seis mil e seiscentos para quatro mil e oitocentos dólares, e o R² sobe de zero vírgula quatrocentos e cinquenta e um para zero vírgula quinhentos e noventa e oito.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Random Forest supera os demais? Porque modela interações não lineares entre múltiplas features, numéricas e categóricas, que os modelos lineares não capturam. A importância de features confirma economia, armamento e mapa entre as mais relevantes. A matriz de confusão e a curva ROC do melhor modelo mostram alta separabilidade. A mensagem central: economia importa, mas não basta — cerca de sessenta por cento com a heurística contra noventa por cento com o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importante ser honesto sobre as limitações. Os dados são de CS:GO de 2019 e 2020, não do CS2 atual. O dataset não traz identificador de round, o que abre a possibilidade de sobreposição entre treino e teste. A SVM foi treinada apenas numa subamostra. E o buy tier é uma aproximação baseada no dinheiro médio por jogador, sem considerar o bônus de derrota.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síntese, os objetivos foram alcançados: fizemos a exploração dos dados, o pré-processamento, a comparação de modelos clássicos, a avaliação por métricas e um notebook reproduzível no Colab. O Random Forest foi o melhor modelo e, mais do que isso, mostramos que o Machine Learning agrega valor real sobre a heurística de economia. Como trabalhos futuros, propomos migrar para o CS2, adotar split agrupado por round e construir um dashboard de probabilidade de vitória.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as referências em formato ABNT resumido, organizadas entre dados e domínio, métodos clássicos de Machine Learning e as ferramentas utilizadas.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4775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CLÁSSICO · TRABALHO FINAL · 2026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47750" y="2501239"/>
            <a:ext cx="648758" cy="406400"/>
          </a:xfrm>
          <a:prstGeom prst="roundRect">
            <a:avLst>
              <a:gd name="adj" fmla="val 50000"/>
            </a:avLst>
          </a:prstGeom>
          <a:ln w="8467">
            <a:solidFill>
              <a:srgbClr val="4D9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7667" y="2585905"/>
            <a:ext cx="365125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8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867958" y="2547805"/>
            <a:ext cx="372930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336139" y="2501239"/>
            <a:ext cx="492654" cy="406400"/>
          </a:xfrm>
          <a:prstGeom prst="ellipse">
            <a:avLst/>
          </a:prstGeom>
          <a:ln w="8467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6055" y="2585905"/>
            <a:ext cx="209021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8" kern="0" dirty="0">
                <a:solidFill>
                  <a:srgbClr val="F0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3231489"/>
            <a:ext cx="14716125" cy="157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7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vitória de round em Counter-Strike: Global Offensive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047750" y="5032772"/>
            <a:ext cx="13538835" cy="10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base em economia e armamento — comparação de modelos de Machine Learning Clássico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047750" y="7226300"/>
            <a:ext cx="16192500" cy="952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7558617"/>
            <a:ext cx="10766651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47750" y="7829550"/>
            <a:ext cx="1076665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Ernesto Santos Almeida · Carlos Eduardo Bez Fontana · Karine de Abraham Louis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8680450"/>
            <a:ext cx="823764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47750" y="8951383"/>
            <a:ext cx="8237643" cy="32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github.com/carloseduardob/projeto-machine-learning-csgo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08017" y="8680450"/>
            <a:ext cx="8120644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REPRODUÇÃO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08017" y="8951383"/>
            <a:ext cx="812064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— notebooks/COLAB_PROJETO-COMPLETO.ipynb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partes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432050"/>
            <a:ext cx="5194300" cy="709295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09700" y="2832100"/>
            <a:ext cx="4917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09700" y="361315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contexto e EDA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9680" y="4152900"/>
            <a:ext cx="4706620" cy="188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CS:GO e o round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Formulação do problema de 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Hipótese, justificativa e dataset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Exploração dos dados (EDA)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relacionados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46850" y="2432050"/>
            <a:ext cx="5194300" cy="709295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8800" y="2832100"/>
            <a:ext cx="4917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908800" y="361315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 e pipeline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48780" y="4152900"/>
            <a:ext cx="4706620" cy="148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e limpeza dos dados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features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scikit-learn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e validação de hiperparâmetros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45950" y="2432050"/>
            <a:ext cx="5194300" cy="709295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407900" y="2832100"/>
            <a:ext cx="4917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407900" y="361315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Modelos, métricas e resultados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47880" y="4152900"/>
            <a:ext cx="4706620" cy="148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modelos de classificação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 fórmulas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comparativos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Análise, limitações e conclusão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199871"/>
            <a:ext cx="1781175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b="1" spc="-3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314421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5746221"/>
            <a:ext cx="12753975" cy="1379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contexto e exploração dos dados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CS:GO e a unidade de análise: o round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55850"/>
            <a:ext cx="8193352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679700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850" y="2641600"/>
            <a:ext cx="7776342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vs 5, dois lados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847850" y="2992967"/>
            <a:ext cx="7281484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Counter-Terrorists (CT) enfrentam Terrorists (T); cada partida é decidida round a round.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4013200"/>
            <a:ext cx="8193352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4337050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7850" y="4298950"/>
            <a:ext cx="7776342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define armamento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847850" y="4650317"/>
            <a:ext cx="7281484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dinheiro acumulado determina rifles, AWP, colete e granadas disponíveis no round.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47750" y="5670550"/>
            <a:ext cx="8193352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5994400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47850" y="5956300"/>
            <a:ext cx="7776342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ainda subjetivas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847850" y="6307667"/>
            <a:ext cx="7281484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escolhas táticas dependem da intuição dos jogadores, sem suporte quantitativo.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622102" y="2355850"/>
            <a:ext cx="7618148" cy="7169150"/>
          </a:xfrm>
          <a:prstGeom prst="roundRect">
            <a:avLst>
              <a:gd name="adj" fmla="val 1329"/>
            </a:avLst>
          </a:prstGeom>
          <a:solidFill>
            <a:srgbClr val="0F172A"/>
          </a:solidFill>
          <a:ln/>
        </p:spPr>
      </p:sp>
      <p:sp>
        <p:nvSpPr>
          <p:cNvPr id="18" name="Shape 13"/>
          <p:cNvSpPr/>
          <p:nvPr/>
        </p:nvSpPr>
        <p:spPr>
          <a:xfrm>
            <a:off x="11013943" y="4493683"/>
            <a:ext cx="1238250" cy="1238250"/>
          </a:xfrm>
          <a:prstGeom prst="ellipse">
            <a:avLst/>
          </a:prstGeom>
          <a:solidFill>
            <a:srgbClr val="0D6EFD">
              <a:alpha val="15000"/>
            </a:srgbClr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001243" y="4519083"/>
            <a:ext cx="1263650" cy="12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3450" dirty="0"/>
          </a:p>
        </p:txBody>
      </p:sp>
      <p:sp>
        <p:nvSpPr>
          <p:cNvPr id="20" name="Text 15"/>
          <p:cNvSpPr/>
          <p:nvPr/>
        </p:nvSpPr>
        <p:spPr>
          <a:xfrm>
            <a:off x="10909115" y="5865283"/>
            <a:ext cx="2306214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defendem / desarmam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3434351" y="5090583"/>
            <a:ext cx="559065" cy="45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850" dirty="0"/>
          </a:p>
        </p:txBody>
      </p:sp>
      <p:sp>
        <p:nvSpPr>
          <p:cNvPr id="22" name="Shape 17"/>
          <p:cNvSpPr/>
          <p:nvPr/>
        </p:nvSpPr>
        <p:spPr>
          <a:xfrm>
            <a:off x="14241066" y="4493683"/>
            <a:ext cx="1238250" cy="1238250"/>
          </a:xfrm>
          <a:prstGeom prst="ellipse">
            <a:avLst/>
          </a:prstGeom>
          <a:solidFill>
            <a:srgbClr val="E67E22">
              <a:alpha val="18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228366" y="4519083"/>
            <a:ext cx="1263650" cy="12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0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450" dirty="0"/>
          </a:p>
        </p:txBody>
      </p:sp>
      <p:sp>
        <p:nvSpPr>
          <p:cNvPr id="24" name="Text 19"/>
          <p:cNvSpPr/>
          <p:nvPr/>
        </p:nvSpPr>
        <p:spPr>
          <a:xfrm>
            <a:off x="14160698" y="5865283"/>
            <a:ext cx="1768078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atacam / plantam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10079302" y="6388100"/>
            <a:ext cx="6703748" cy="952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1"/>
          <p:cNvSpPr/>
          <p:nvPr/>
        </p:nvSpPr>
        <p:spPr>
          <a:xfrm>
            <a:off x="9744115" y="6644217"/>
            <a:ext cx="737412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13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ARSENAL DISPONÍVEL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1418755" y="6997700"/>
            <a:ext cx="828807" cy="389467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28" name="Text 23"/>
          <p:cNvSpPr/>
          <p:nvPr/>
        </p:nvSpPr>
        <p:spPr>
          <a:xfrm>
            <a:off x="11533055" y="7073900"/>
            <a:ext cx="600207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Rifles</a:t>
            </a:r>
            <a:endParaRPr lang="en-US" sz="1650" dirty="0"/>
          </a:p>
        </p:txBody>
      </p:sp>
      <p:sp>
        <p:nvSpPr>
          <p:cNvPr id="29" name="Shape 24"/>
          <p:cNvSpPr/>
          <p:nvPr/>
        </p:nvSpPr>
        <p:spPr>
          <a:xfrm>
            <a:off x="12342813" y="6997700"/>
            <a:ext cx="774435" cy="389467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0" name="Text 25"/>
          <p:cNvSpPr/>
          <p:nvPr/>
        </p:nvSpPr>
        <p:spPr>
          <a:xfrm>
            <a:off x="12457113" y="7073900"/>
            <a:ext cx="545835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AWP</a:t>
            </a:r>
            <a:endParaRPr lang="en-US" sz="1650" dirty="0"/>
          </a:p>
        </p:txBody>
      </p:sp>
      <p:sp>
        <p:nvSpPr>
          <p:cNvPr id="31" name="Shape 26"/>
          <p:cNvSpPr/>
          <p:nvPr/>
        </p:nvSpPr>
        <p:spPr>
          <a:xfrm>
            <a:off x="13212498" y="6997700"/>
            <a:ext cx="910564" cy="389467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2" name="Text 27"/>
          <p:cNvSpPr/>
          <p:nvPr/>
        </p:nvSpPr>
        <p:spPr>
          <a:xfrm>
            <a:off x="13326798" y="7073900"/>
            <a:ext cx="681964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Colete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14218311" y="6997700"/>
            <a:ext cx="1225153" cy="389467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4" name="Text 29"/>
          <p:cNvSpPr/>
          <p:nvPr/>
        </p:nvSpPr>
        <p:spPr>
          <a:xfrm>
            <a:off x="14332611" y="7073900"/>
            <a:ext cx="996553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Granadas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FORMULAÇÃO MATEMÁTICA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tarefas de aprendizado supervisionado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55850"/>
            <a:ext cx="7905750" cy="7169150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2355850"/>
            <a:ext cx="7905750" cy="42333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7" name="Text 5"/>
          <p:cNvSpPr/>
          <p:nvPr/>
        </p:nvSpPr>
        <p:spPr>
          <a:xfrm>
            <a:off x="1466850" y="2817283"/>
            <a:ext cx="777430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6850" y="3132667"/>
            <a:ext cx="7774305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binária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66850" y="3797300"/>
            <a:ext cx="400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24050" y="3839633"/>
            <a:ext cx="68595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do estado do round (economia, armas, mapa…)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66850" y="4290483"/>
            <a:ext cx="400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24050" y="4332817"/>
            <a:ext cx="279967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round_winner ∈ {CT, T}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66850" y="8068734"/>
            <a:ext cx="7067550" cy="1037167"/>
          </a:xfrm>
          <a:prstGeom prst="roundRect">
            <a:avLst>
              <a:gd name="adj" fmla="val 9184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1067" y="8324850"/>
            <a:ext cx="6691143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target_cls </a:t>
            </a:r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se T vence 0 se CT vence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0" y="2355850"/>
            <a:ext cx="7905750" cy="7169150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34500" y="2355850"/>
            <a:ext cx="7905750" cy="4233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2817283"/>
            <a:ext cx="777430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6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COMPLEMENTAR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53600" y="3132667"/>
            <a:ext cx="7774305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53600" y="3797300"/>
            <a:ext cx="6286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alvo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39400" y="3839633"/>
            <a:ext cx="281626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contínuo em USD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53600" y="4290483"/>
            <a:ext cx="63898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 a vantagem econômica relativa entre os times.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753600" y="8271933"/>
            <a:ext cx="7067550" cy="833967"/>
          </a:xfrm>
          <a:prstGeom prst="roundRect">
            <a:avLst>
              <a:gd name="adj" fmla="val 1142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7817" y="8528050"/>
            <a:ext cx="6691143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money_diff </a:t>
            </a:r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ct_money </a:t>
            </a:r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pPr algn="l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t_money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E DADOS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recorrer a Machine Learning?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55850"/>
            <a:ext cx="7486650" cy="2209800"/>
          </a:xfrm>
          <a:prstGeom prst="roundRect">
            <a:avLst>
              <a:gd name="adj" fmla="val 431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2736850"/>
            <a:ext cx="7313295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 "time com mais dinheiro vence"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850" y="3075517"/>
            <a:ext cx="28520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0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212034" y="3625850"/>
            <a:ext cx="1219068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acerto nos dados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4832350"/>
            <a:ext cx="7486650" cy="1845866"/>
          </a:xfrm>
          <a:prstGeom prst="roundRect">
            <a:avLst>
              <a:gd name="adj" fmla="val 51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28750" y="5175250"/>
            <a:ext cx="6949250" cy="1198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ML integra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variáveis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 relações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lineares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economia, armamento, mapa e estado de jogo — que a heurística isolada ignora.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15400" y="2355850"/>
            <a:ext cx="8324850" cy="7169150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34500" y="2774950"/>
            <a:ext cx="823531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34500" y="3939117"/>
            <a:ext cx="748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223683"/>
            <a:ext cx="660797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08250" y="3223683"/>
            <a:ext cx="6912900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— CS:GO Round Winner Classification (Christian Lillelund)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34500" y="4872567"/>
            <a:ext cx="748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0" y="4157133"/>
            <a:ext cx="825632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78031" y="4157133"/>
            <a:ext cx="6743119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Skybox AI Challenge · ~700 demos profissionais (2019–2020)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34500" y="5543550"/>
            <a:ext cx="748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5090583"/>
            <a:ext cx="1156494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43810" y="5090583"/>
            <a:ext cx="517734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capturados a cada ~20 s até o fim do round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34500" y="7890933"/>
            <a:ext cx="2381250" cy="1214967"/>
          </a:xfrm>
          <a:prstGeom prst="roundRect">
            <a:avLst>
              <a:gd name="adj" fmla="val 7840"/>
            </a:avLst>
          </a:prstGeom>
          <a:solidFill>
            <a:srgbClr val="E7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9466898" y="8119533"/>
            <a:ext cx="2116455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122.410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466898" y="8640234"/>
            <a:ext cx="2116455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887200" y="7890933"/>
            <a:ext cx="2381250" cy="1214967"/>
          </a:xfrm>
          <a:prstGeom prst="roundRect">
            <a:avLst>
              <a:gd name="adj" fmla="val 7840"/>
            </a:avLst>
          </a:prstGeom>
          <a:solidFill>
            <a:srgbClr val="E7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019598" y="8119533"/>
            <a:ext cx="2116455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019598" y="8640234"/>
            <a:ext cx="2116455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439900" y="7890933"/>
            <a:ext cx="2381250" cy="1214967"/>
          </a:xfrm>
          <a:prstGeom prst="roundRect">
            <a:avLst>
              <a:gd name="adj" fmla="val 7840"/>
            </a:avLst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14572298" y="8119533"/>
            <a:ext cx="2116455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4572298" y="8640234"/>
            <a:ext cx="2116455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nulos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 (EDA)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2766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achados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03450"/>
            <a:ext cx="6245357" cy="1253067"/>
          </a:xfrm>
          <a:prstGeom prst="roundRect">
            <a:avLst>
              <a:gd name="adj" fmla="val 7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14450" y="2432050"/>
            <a:ext cx="628315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Balanceamento de classes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14450" y="2827867"/>
            <a:ext cx="2913063" cy="40005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2827867"/>
            <a:ext cx="28480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· 51%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227513" y="2827867"/>
            <a:ext cx="2798763" cy="40005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0" name="Text 8"/>
          <p:cNvSpPr/>
          <p:nvPr/>
        </p:nvSpPr>
        <p:spPr>
          <a:xfrm>
            <a:off x="4143550" y="2827867"/>
            <a:ext cx="2730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 · CT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47750" y="3627967"/>
            <a:ext cx="6245357" cy="5935134"/>
          </a:xfrm>
          <a:prstGeom prst="roundRect">
            <a:avLst>
              <a:gd name="adj" fmla="val 1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14450" y="3856567"/>
            <a:ext cx="628315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influencia a vitória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4450" y="4233333"/>
            <a:ext cx="5883316" cy="52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money_diff correlaciona, mas não decide sozinha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14450" y="4829175"/>
            <a:ext cx="62831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14450" y="5179483"/>
            <a:ext cx="62831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Presença de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AWP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14450" y="5529792"/>
            <a:ext cx="62831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Bomba plantada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14450" y="5880100"/>
            <a:ext cx="62831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tier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rodada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314450" y="6230409"/>
            <a:ext cx="5883316" cy="52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money_diff com ~8% acima do limiar IQR; mantidos por serem informação tática relevante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7559807" y="2203450"/>
            <a:ext cx="3112426" cy="5541962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5535" b="-75535"/>
          <a:stretch/>
        </p:blipFill>
        <p:spPr>
          <a:xfrm>
            <a:off x="7559807" y="2203450"/>
            <a:ext cx="3112426" cy="554196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04186" y="7821613"/>
            <a:ext cx="3423669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vencedor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0843683" y="2203450"/>
            <a:ext cx="3112558" cy="5541962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24819" b="-224819"/>
          <a:stretch/>
        </p:blipFill>
        <p:spPr>
          <a:xfrm>
            <a:off x="10843683" y="2203450"/>
            <a:ext cx="3112558" cy="554196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688056" y="7821613"/>
            <a:ext cx="3423814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× vitória</a:t>
            </a:r>
            <a:endParaRPr lang="en-US" sz="1425" dirty="0"/>
          </a:p>
        </p:txBody>
      </p:sp>
      <p:sp>
        <p:nvSpPr>
          <p:cNvPr id="25" name="Shape 21"/>
          <p:cNvSpPr/>
          <p:nvPr/>
        </p:nvSpPr>
        <p:spPr>
          <a:xfrm>
            <a:off x="14127692" y="2203450"/>
            <a:ext cx="3112558" cy="5541962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4461" b="-114461"/>
          <a:stretch/>
        </p:blipFill>
        <p:spPr>
          <a:xfrm>
            <a:off x="14127692" y="2203450"/>
            <a:ext cx="3112558" cy="55419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972064" y="7821613"/>
            <a:ext cx="3423814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tier</a:t>
            </a:r>
            <a:endParaRPr lang="en-US" sz="1425" dirty="0"/>
          </a:p>
        </p:txBody>
      </p:sp>
      <p:sp>
        <p:nvSpPr>
          <p:cNvPr id="28" name="Shape 23"/>
          <p:cNvSpPr/>
          <p:nvPr/>
        </p:nvSpPr>
        <p:spPr>
          <a:xfrm>
            <a:off x="7559807" y="8204729"/>
            <a:ext cx="9680443" cy="1358371"/>
          </a:xfrm>
          <a:prstGeom prst="roundRect">
            <a:avLst>
              <a:gd name="adj" fmla="val 7012"/>
            </a:avLst>
          </a:prstGeom>
          <a:solidFill>
            <a:srgbClr val="FFF8EC"/>
          </a:solidFill>
          <a:ln w="8467">
            <a:solidFill>
              <a:srgbClr val="FCD34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4974" y="8441796"/>
            <a:ext cx="285750" cy="2857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92174" y="8422746"/>
            <a:ext cx="9540201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ao data leakage</a:t>
            </a:r>
            <a:endParaRPr lang="en-US" sz="1875" dirty="0"/>
          </a:p>
        </p:txBody>
      </p:sp>
      <p:sp>
        <p:nvSpPr>
          <p:cNvPr id="31" name="Text 25"/>
          <p:cNvSpPr/>
          <p:nvPr/>
        </p:nvSpPr>
        <p:spPr>
          <a:xfrm>
            <a:off x="8292174" y="8731779"/>
            <a:ext cx="8933097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7C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snapshots por round vazam o desfecho. Mitigação: usar </a:t>
            </a:r>
            <a:pPr algn="l" indent="0" marL="0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7C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o início do round </a:t>
            </a:r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7C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DA ARTE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relacionados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17750"/>
            <a:ext cx="16192500" cy="3534833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2317750"/>
            <a:ext cx="16192500" cy="5630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72317"/>
            <a:ext cx="161925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489200"/>
            <a:ext cx="657652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350257" y="2489200"/>
            <a:ext cx="10522757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/ MÉTODO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047750" y="3617383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109383"/>
            <a:ext cx="657652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Skybox AI Challenge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350257" y="3109383"/>
            <a:ext cx="1052275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Competição que originou os dados (~700 demos profissionais)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3625850"/>
            <a:ext cx="16192500" cy="74506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4362450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854450"/>
            <a:ext cx="657652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Lillelund (Kaggle)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350257" y="3854450"/>
            <a:ext cx="1052275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do dataset público de classificação de vencedor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5107517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599517"/>
            <a:ext cx="657652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Hiemstra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350257" y="4599517"/>
            <a:ext cx="1052275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Bayesiana sobre o mesmo CSV — método diferente do nosso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115984"/>
            <a:ext cx="16192500" cy="736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344584"/>
            <a:ext cx="657652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Ghosh · CSGOPredictor (GitHub)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350257" y="5344584"/>
            <a:ext cx="1052275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 e Random Forest no mesmo problema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6157383"/>
            <a:ext cx="16192500" cy="1253331"/>
          </a:xfrm>
          <a:prstGeom prst="rect">
            <a:avLst/>
          </a:prstGeom>
          <a:solidFill>
            <a:srgbClr val="E7F1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6157383"/>
            <a:ext cx="42333" cy="1253331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25" name="Text 23"/>
          <p:cNvSpPr/>
          <p:nvPr/>
        </p:nvSpPr>
        <p:spPr>
          <a:xfrm>
            <a:off x="1413933" y="6424083"/>
            <a:ext cx="15988242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0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posicionamento: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comparação sistemática de modelos de ML clássico sobre um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0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reproduzível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com métricas padronizadas e validação cruzada.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535098"/>
            <a:ext cx="1781175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b="1" spc="-3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649648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6081448"/>
            <a:ext cx="13620750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Pré-processamento, features e pipeline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DOS DADOS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aplicados e sua justificativa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8700"/>
            <a:ext cx="9379612" cy="3484033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2298700"/>
            <a:ext cx="9379612" cy="5630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53267"/>
            <a:ext cx="937961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2470150"/>
            <a:ext cx="2880439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952081" y="2470150"/>
            <a:ext cx="3142377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808787" y="2470150"/>
            <a:ext cx="3665961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047750" y="3589867"/>
            <a:ext cx="9379612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090333"/>
            <a:ext cx="288043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time_left ≥ 150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2081" y="3094567"/>
            <a:ext cx="314237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do round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08787" y="3094567"/>
            <a:ext cx="366596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informação pós-combate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3598333"/>
            <a:ext cx="9379612" cy="72813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7750" y="4318000"/>
            <a:ext cx="9379612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3826933"/>
            <a:ext cx="2880439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CT e 5 T vivos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52081" y="3826933"/>
            <a:ext cx="314237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completo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08787" y="3826933"/>
            <a:ext cx="366596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5 vs 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7750" y="5054600"/>
            <a:ext cx="9379612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4555067"/>
            <a:ext cx="288043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excluir de_cache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52081" y="4559300"/>
            <a:ext cx="314237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raro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8787" y="4559300"/>
            <a:ext cx="366596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Poucos dados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5063067"/>
            <a:ext cx="9379612" cy="719667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" y="5291667"/>
            <a:ext cx="2880439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52081" y="5291667"/>
            <a:ext cx="314237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122.410 → 33.365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08787" y="5291667"/>
            <a:ext cx="366596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final de modelagem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808361" y="2298700"/>
            <a:ext cx="6431889" cy="722630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11265561" y="4303183"/>
            <a:ext cx="6069238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65561" y="4599517"/>
            <a:ext cx="606923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122.410</a:t>
            </a:r>
            <a:endParaRPr lang="en-US" sz="48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5561" y="5456767"/>
            <a:ext cx="323850" cy="3238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703711" y="5487459"/>
            <a:ext cx="2110925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de qualidade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1265561" y="6028267"/>
            <a:ext cx="6069238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FINAL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265561" y="6324600"/>
            <a:ext cx="606923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33.365</a:t>
            </a:r>
            <a:endParaRPr lang="en-US" sz="6000" dirty="0"/>
          </a:p>
        </p:txBody>
      </p:sp>
      <p:sp>
        <p:nvSpPr>
          <p:cNvPr id="35" name="Text 32"/>
          <p:cNvSpPr/>
          <p:nvPr/>
        </p:nvSpPr>
        <p:spPr>
          <a:xfrm>
            <a:off x="11265561" y="7258050"/>
            <a:ext cx="606923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27% das linhas, sem ruído temporal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derivadas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8700"/>
            <a:ext cx="7962900" cy="3370792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0650" y="2603500"/>
            <a:ext cx="800481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ECONÔMICAS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0650" y="3012017"/>
            <a:ext cx="7277100" cy="579967"/>
          </a:xfrm>
          <a:prstGeom prst="roundRect">
            <a:avLst>
              <a:gd name="adj" fmla="val 13139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9617" y="3153833"/>
            <a:ext cx="709748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money_diff </a:t>
            </a:r>
            <a:pPr algn="l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ct_money </a:t>
            </a:r>
            <a:pPr algn="l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t_money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90650" y="3725333"/>
            <a:ext cx="7277100" cy="579967"/>
          </a:xfrm>
          <a:prstGeom prst="roundRect">
            <a:avLst>
              <a:gd name="adj" fmla="val 13139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9617" y="3867150"/>
            <a:ext cx="709748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money_ratio </a:t>
            </a:r>
            <a:pPr algn="l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ct_money </a:t>
            </a:r>
            <a:pPr algn="l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/ </a:t>
            </a:r>
            <a:pPr algn="l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t_money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277350" y="2298700"/>
            <a:ext cx="7962900" cy="3370792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20250" y="2603500"/>
            <a:ext cx="800481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JOGO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0250" y="3012017"/>
            <a:ext cx="1725480" cy="499533"/>
          </a:xfrm>
          <a:prstGeom prst="roundRect">
            <a:avLst>
              <a:gd name="adj" fmla="val 15254"/>
            </a:avLst>
          </a:prstGeom>
          <a:solidFill>
            <a:srgbClr val="E7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3126317"/>
            <a:ext cx="1458780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5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health_diff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60031" y="3012017"/>
            <a:ext cx="1599803" cy="499533"/>
          </a:xfrm>
          <a:prstGeom prst="roundRect">
            <a:avLst>
              <a:gd name="adj" fmla="val 15254"/>
            </a:avLst>
          </a:prstGeom>
          <a:solidFill>
            <a:srgbClr val="E7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631481" y="3126317"/>
            <a:ext cx="1333103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5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armor_diff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174133" y="3012017"/>
            <a:ext cx="2605352" cy="499533"/>
          </a:xfrm>
          <a:prstGeom prst="roundRect">
            <a:avLst>
              <a:gd name="adj" fmla="val 15254"/>
            </a:avLst>
          </a:prstGeom>
          <a:solidFill>
            <a:srgbClr val="E7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345583" y="3126317"/>
            <a:ext cx="2340613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5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players_alive_diff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20250" y="3663950"/>
            <a:ext cx="800481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 (CT − T) que resumem a vantagem corrente.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047750" y="5936192"/>
            <a:ext cx="7962900" cy="3588808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90650" y="6240992"/>
            <a:ext cx="800481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C26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ARMAMENTO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0650" y="6649509"/>
            <a:ext cx="2102511" cy="499533"/>
          </a:xfrm>
          <a:prstGeom prst="roundRect">
            <a:avLst>
              <a:gd name="adj" fmla="val 15254"/>
            </a:avLst>
          </a:prstGeom>
          <a:solidFill>
            <a:srgbClr val="FFF3E6"/>
          </a:solidFill>
          <a:ln/>
        </p:spPr>
      </p:sp>
      <p:sp>
        <p:nvSpPr>
          <p:cNvPr id="23" name="Text 21"/>
          <p:cNvSpPr/>
          <p:nvPr/>
        </p:nvSpPr>
        <p:spPr>
          <a:xfrm>
            <a:off x="1562100" y="6763809"/>
            <a:ext cx="1835811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26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ct_rifle_count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07461" y="6649509"/>
            <a:ext cx="1976834" cy="499533"/>
          </a:xfrm>
          <a:prstGeom prst="roundRect">
            <a:avLst>
              <a:gd name="adj" fmla="val 15254"/>
            </a:avLst>
          </a:prstGeom>
          <a:solidFill>
            <a:srgbClr val="FFF3E6"/>
          </a:solidFill>
          <a:ln/>
        </p:spPr>
      </p:sp>
      <p:sp>
        <p:nvSpPr>
          <p:cNvPr id="25" name="Text 23"/>
          <p:cNvSpPr/>
          <p:nvPr/>
        </p:nvSpPr>
        <p:spPr>
          <a:xfrm>
            <a:off x="3778911" y="6763809"/>
            <a:ext cx="1710134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26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t_rifle_count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698596" y="6649509"/>
            <a:ext cx="1599803" cy="499533"/>
          </a:xfrm>
          <a:prstGeom prst="roundRect">
            <a:avLst>
              <a:gd name="adj" fmla="val 15254"/>
            </a:avLst>
          </a:prstGeom>
          <a:solidFill>
            <a:srgbClr val="FFF3E6"/>
          </a:solidFill>
          <a:ln/>
        </p:spPr>
      </p:sp>
      <p:sp>
        <p:nvSpPr>
          <p:cNvPr id="27" name="Text 25"/>
          <p:cNvSpPr/>
          <p:nvPr/>
        </p:nvSpPr>
        <p:spPr>
          <a:xfrm>
            <a:off x="5870046" y="6763809"/>
            <a:ext cx="1333103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26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ct_has_awp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90650" y="7263342"/>
            <a:ext cx="1474126" cy="499533"/>
          </a:xfrm>
          <a:prstGeom prst="roundRect">
            <a:avLst>
              <a:gd name="adj" fmla="val 15254"/>
            </a:avLst>
          </a:prstGeom>
          <a:solidFill>
            <a:srgbClr val="FFF3E6"/>
          </a:solidFill>
          <a:ln/>
        </p:spPr>
      </p:sp>
      <p:sp>
        <p:nvSpPr>
          <p:cNvPr id="29" name="Text 27"/>
          <p:cNvSpPr/>
          <p:nvPr/>
        </p:nvSpPr>
        <p:spPr>
          <a:xfrm>
            <a:off x="1562100" y="7377642"/>
            <a:ext cx="120742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26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t_has_awp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90650" y="7915275"/>
            <a:ext cx="800481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de rifles por lado; AWP como indicador binário.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9277350" y="5936192"/>
            <a:ext cx="7962900" cy="3588808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20250" y="6240992"/>
            <a:ext cx="800481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TIER </a:t>
            </a:r>
            <a:pPr algn="l" indent="0" marL="0">
              <a:buNone/>
            </a:pPr>
            <a:r>
              <a:rPr lang="en-US" sz="1650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CT_BUY_TIER · T_BUY_TIER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620250" y="6649509"/>
            <a:ext cx="846799" cy="414867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8467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0167" y="6734175"/>
            <a:ext cx="563166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0562299" y="6649509"/>
            <a:ext cx="713052" cy="414867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8467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42216" y="6734175"/>
            <a:ext cx="42941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1370601" y="6649509"/>
            <a:ext cx="713052" cy="414867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8467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50518" y="6734175"/>
            <a:ext cx="42941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12178903" y="6649509"/>
            <a:ext cx="639895" cy="414867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8467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58820" y="6734175"/>
            <a:ext cx="356261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12914048" y="6649509"/>
            <a:ext cx="944166" cy="414867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8467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93964" y="6734175"/>
            <a:ext cx="660532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9620250" y="7197725"/>
            <a:ext cx="80048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Categorização da compra a partir de </a:t>
            </a:r>
            <a:pPr algn="l" indent="0" marL="0">
              <a:buNone/>
            </a:pPr>
            <a:r>
              <a:rPr lang="en-US" sz="1725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team_money / 5</a:t>
            </a:r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SCIKIT-LEARN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dado bruto ao modelo treinado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17750"/>
            <a:ext cx="2923778" cy="1441450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6933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698" y="2582333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738" y="2944283"/>
            <a:ext cx="27598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brutos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29738" y="3282950"/>
            <a:ext cx="27598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122.410 linhas</a:t>
            </a:r>
            <a:endParaRPr lang="en-US" sz="14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9628" y="2895600"/>
            <a:ext cx="285750" cy="2857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3478" y="2317750"/>
            <a:ext cx="2923910" cy="1441450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6933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2558" y="2582333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15459" y="2944283"/>
            <a:ext cx="275994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415459" y="3282950"/>
            <a:ext cx="275994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33.365</a:t>
            </a:r>
            <a:endParaRPr lang="en-US" sz="14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5488" y="2895600"/>
            <a:ext cx="285750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19338" y="2317750"/>
            <a:ext cx="2923778" cy="1441450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6933">
            <a:solidFill>
              <a:srgbClr val="E2E8F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8286" y="2726267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01326" y="3088217"/>
            <a:ext cx="27598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1217" y="2895600"/>
            <a:ext cx="285750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905067" y="2317750"/>
            <a:ext cx="3049323" cy="1441450"/>
          </a:xfrm>
          <a:prstGeom prst="roundRect">
            <a:avLst>
              <a:gd name="adj" fmla="val 6608"/>
            </a:avLst>
          </a:prstGeom>
          <a:solidFill>
            <a:srgbClr val="E7F1FF"/>
          </a:solidFill>
          <a:ln w="16933">
            <a:solidFill>
              <a:srgbClr val="0D6EFD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86854" y="2582333"/>
            <a:ext cx="285750" cy="2857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980777" y="2944283"/>
            <a:ext cx="2897902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ColumnTransformer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10980777" y="3282950"/>
            <a:ext cx="289790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0A5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 + OneHot</a:t>
            </a:r>
            <a:endParaRPr lang="en-US" sz="14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92490" y="2895600"/>
            <a:ext cx="285750" cy="2857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4316340" y="2317750"/>
            <a:ext cx="2923910" cy="1441450"/>
          </a:xfrm>
          <a:prstGeom prst="roundRect">
            <a:avLst>
              <a:gd name="adj" fmla="val 6608"/>
            </a:avLst>
          </a:prstGeom>
          <a:solidFill>
            <a:srgbClr val="0F172A"/>
          </a:solidFill>
          <a:ln w="16933">
            <a:solidFill>
              <a:srgbClr val="0F172A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635420" y="2582333"/>
            <a:ext cx="285750" cy="2857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4398321" y="2944283"/>
            <a:ext cx="275994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800" dirty="0"/>
          </a:p>
        </p:txBody>
      </p:sp>
      <p:sp>
        <p:nvSpPr>
          <p:cNvPr id="27" name="Text 16"/>
          <p:cNvSpPr/>
          <p:nvPr/>
        </p:nvSpPr>
        <p:spPr>
          <a:xfrm>
            <a:off x="14398321" y="3282950"/>
            <a:ext cx="275994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modelo</a:t>
            </a:r>
            <a:endParaRPr lang="en-US" sz="1425" dirty="0"/>
          </a:p>
        </p:txBody>
      </p:sp>
      <p:sp>
        <p:nvSpPr>
          <p:cNvPr id="28" name="Shape 17"/>
          <p:cNvSpPr/>
          <p:nvPr/>
        </p:nvSpPr>
        <p:spPr>
          <a:xfrm>
            <a:off x="1047750" y="4140200"/>
            <a:ext cx="5232400" cy="538480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29" name="Text 18"/>
          <p:cNvSpPr/>
          <p:nvPr/>
        </p:nvSpPr>
        <p:spPr>
          <a:xfrm>
            <a:off x="1352550" y="4406900"/>
            <a:ext cx="508508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endParaRPr lang="en-US" sz="1650" dirty="0"/>
          </a:p>
        </p:txBody>
      </p:sp>
      <p:sp>
        <p:nvSpPr>
          <p:cNvPr id="30" name="Shape 19"/>
          <p:cNvSpPr/>
          <p:nvPr/>
        </p:nvSpPr>
        <p:spPr>
          <a:xfrm>
            <a:off x="1352550" y="4758267"/>
            <a:ext cx="4622800" cy="588433"/>
          </a:xfrm>
          <a:prstGeom prst="roundRect">
            <a:avLst>
              <a:gd name="adj" fmla="val 12950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1463125" y="4900083"/>
            <a:ext cx="44016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</a:t>
            </a:r>
            <a:pPr algn="ctr" indent="0" marL="0">
              <a:buNone/>
            </a:pPr>
            <a:r>
              <a:rPr lang="en-US" sz="210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(</a:t>
            </a:r>
            <a:pPr algn="ctr" indent="0" marL="0">
              <a:buNone/>
            </a:pPr>
            <a:r>
              <a:rPr lang="en-US" sz="2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pPr algn="ctr" indent="0" marL="0">
              <a:buNone/>
            </a:pPr>
            <a:r>
              <a:rPr lang="en-US" sz="210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− μ) / σ</a:t>
            </a:r>
            <a:endParaRPr lang="en-US" sz="2100" dirty="0"/>
          </a:p>
        </p:txBody>
      </p:sp>
      <p:sp>
        <p:nvSpPr>
          <p:cNvPr id="32" name="Text 21"/>
          <p:cNvSpPr/>
          <p:nvPr/>
        </p:nvSpPr>
        <p:spPr>
          <a:xfrm>
            <a:off x="1352550" y="5461000"/>
            <a:ext cx="47614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Necessário para KNN e SVM (baseados em distância).</a:t>
            </a:r>
            <a:endParaRPr lang="en-US" sz="1575" dirty="0"/>
          </a:p>
        </p:txBody>
      </p:sp>
      <p:sp>
        <p:nvSpPr>
          <p:cNvPr id="33" name="Shape 22"/>
          <p:cNvSpPr/>
          <p:nvPr/>
        </p:nvSpPr>
        <p:spPr>
          <a:xfrm>
            <a:off x="6527800" y="4140200"/>
            <a:ext cx="5232400" cy="538480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6832600" y="4406900"/>
            <a:ext cx="508508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</a:t>
            </a:r>
            <a:endParaRPr lang="en-US" sz="1650" dirty="0"/>
          </a:p>
        </p:txBody>
      </p:sp>
      <p:sp>
        <p:nvSpPr>
          <p:cNvPr id="35" name="Text 24"/>
          <p:cNvSpPr/>
          <p:nvPr/>
        </p:nvSpPr>
        <p:spPr>
          <a:xfrm>
            <a:off x="6832600" y="4758267"/>
            <a:ext cx="4761484" cy="52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e buy tier → variáveis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binárias, sem ordem implícita.</a:t>
            </a:r>
            <a:endParaRPr lang="en-US" sz="1725" dirty="0"/>
          </a:p>
        </p:txBody>
      </p:sp>
      <p:sp>
        <p:nvSpPr>
          <p:cNvPr id="36" name="Shape 25"/>
          <p:cNvSpPr/>
          <p:nvPr/>
        </p:nvSpPr>
        <p:spPr>
          <a:xfrm>
            <a:off x="12007850" y="4140200"/>
            <a:ext cx="5232400" cy="538480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37" name="Text 26"/>
          <p:cNvSpPr/>
          <p:nvPr/>
        </p:nvSpPr>
        <p:spPr>
          <a:xfrm>
            <a:off x="12312650" y="4406900"/>
            <a:ext cx="508508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650" dirty="0"/>
          </a:p>
        </p:txBody>
      </p:sp>
      <p:sp>
        <p:nvSpPr>
          <p:cNvPr id="38" name="Text 27"/>
          <p:cNvSpPr/>
          <p:nvPr/>
        </p:nvSpPr>
        <p:spPr>
          <a:xfrm>
            <a:off x="12312650" y="4758267"/>
            <a:ext cx="4761484" cy="52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estratificado · GridSearchCV </a:t>
            </a:r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 </a:t>
            </a:r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F1 (classif.) / RMSE (regr.)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199871"/>
            <a:ext cx="1781175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b="1" spc="-3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314421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III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5746221"/>
            <a:ext cx="12753975" cy="1379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métricas, resultados e conclusão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CLASSIFICAÇÃO · 1 DE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 e SVM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8700"/>
            <a:ext cx="7905750" cy="7226300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28750" y="2679700"/>
            <a:ext cx="78581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 </a:t>
            </a:r>
            <a:pPr algn="l" indent="0" marL="0">
              <a:buNone/>
            </a:pPr>
            <a:r>
              <a:rPr lang="en-US" sz="1650" b="1" dirty="0">
                <a:solidFill>
                  <a:srgbClr val="0D6EFD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3187700"/>
            <a:ext cx="78581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linear probabilístico, interpretável; assume relação log-linear.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8750" y="3717264"/>
            <a:ext cx="7143750" cy="1298575"/>
          </a:xfrm>
          <a:prstGeom prst="roundRect">
            <a:avLst>
              <a:gd name="adj" fmla="val 7335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8660" y="3954330"/>
            <a:ext cx="6883929" cy="86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=1|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) = 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1 + 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algn="ctr" indent="0" marL="0">
              <a:buNone/>
            </a:pPr>
            <a:r>
              <a:rPr lang="en-US" sz="1875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−(β₀ + β</a:t>
            </a:r>
            <a:pPr algn="ctr" indent="0" marL="0">
              <a:buNone/>
            </a:pPr>
            <a:r>
              <a:rPr lang="en-US" sz="1562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algn="ctr" indent="0" marL="0">
              <a:buNone/>
            </a:pPr>
            <a:r>
              <a:rPr lang="en-US" sz="1875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428750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463516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516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6825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591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11591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34500" y="2298700"/>
            <a:ext cx="7905750" cy="7226300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15500" y="2679700"/>
            <a:ext cx="78581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</a:t>
            </a:r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kernel RBF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15500" y="3187700"/>
            <a:ext cx="7358063" cy="9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Hiperplano de margem máxima; o kernel RBF mapeia para um espaço não linear. Treinada em subamostra de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 computacional).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15500" y="4357291"/>
            <a:ext cx="7143750" cy="865717"/>
          </a:xfrm>
          <a:prstGeom prst="roundRect">
            <a:avLst>
              <a:gd name="adj" fmla="val 11002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45410" y="4594357"/>
            <a:ext cx="6883929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′) = exp(−γ‖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pPr algn="ctr" indent="0" marL="0">
              <a:buNone/>
            </a:pPr>
            <a:r>
              <a:rPr lang="en-US" sz="22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′‖</a:t>
            </a:r>
            <a:pPr algn="ctr" indent="0" marL="0">
              <a:buNone/>
            </a:pPr>
            <a:r>
              <a:rPr lang="en-US" sz="1875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ctr" indent="0" marL="0">
              <a:buNone/>
            </a:pP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715500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9750266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0,784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50266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363575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13398341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3398341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CLASSIFICAÇÃO · 2 DE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e Random Forest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8700"/>
            <a:ext cx="7905750" cy="7226300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28750" y="2679700"/>
            <a:ext cx="78581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</a:t>
            </a:r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 vizinhos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3187700"/>
            <a:ext cx="7358063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pelo voto dos K vizinhos mais próximos. GridSearch: K ∈ {5, 11, 21}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K = 5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8750" y="4037277"/>
            <a:ext cx="7143750" cy="759354"/>
          </a:xfrm>
          <a:prstGeom prst="roundRect">
            <a:avLst>
              <a:gd name="adj" fmla="val 12544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9610" y="4217194"/>
            <a:ext cx="6922029" cy="43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′) = √(Σ(</a:t>
            </a:r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1688" baseline="-4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′</a:t>
            </a:r>
            <a:pPr algn="ctr" indent="0" marL="0">
              <a:buNone/>
            </a:pPr>
            <a:r>
              <a:rPr lang="en-US" sz="1688" baseline="-4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pPr algn="ctr" indent="0" marL="0">
              <a:buNone/>
            </a:pPr>
            <a:r>
              <a:rPr lang="en-US" sz="1688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428750" y="4910931"/>
            <a:ext cx="7143750" cy="656167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9610" y="5090848"/>
            <a:ext cx="692202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ŷ </a:t>
            </a:r>
            <a:pPr algn="ctr" indent="0" marL="0">
              <a:buNone/>
            </a:pP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moda dos K rótulos vizinhos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428750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516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516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6825" y="8102600"/>
            <a:ext cx="3495675" cy="1041400"/>
          </a:xfrm>
          <a:prstGeom prst="roundRect">
            <a:avLst>
              <a:gd name="adj" fmla="val 9146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111591" y="8293100"/>
            <a:ext cx="3426143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11591" y="8733367"/>
            <a:ext cx="342614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34500" y="2298700"/>
            <a:ext cx="7905750" cy="7226300"/>
          </a:xfrm>
          <a:prstGeom prst="roundRect">
            <a:avLst>
              <a:gd name="adj" fmla="val 1318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228600" dist="76200" dir="5400000">
              <a:srgbClr val="047857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15500" y="2679700"/>
            <a:ext cx="245901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778037" y="2680758"/>
            <a:ext cx="2081212" cy="353483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930438" y="2747433"/>
            <a:ext cx="1852612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MODELO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15500" y="3187700"/>
            <a:ext cx="7358063" cy="9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 árvores (bootstrap + subset de features); predição por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 majoritário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Captura interações mapa × economia × armamento.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15500" y="4357291"/>
            <a:ext cx="2292350" cy="1147233"/>
          </a:xfrm>
          <a:prstGeom prst="roundRect">
            <a:avLst>
              <a:gd name="adj" fmla="val 830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31387" y="4566841"/>
            <a:ext cx="2060575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0,899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9831387" y="5074841"/>
            <a:ext cx="206057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141200" y="4357291"/>
            <a:ext cx="2292350" cy="1147233"/>
          </a:xfrm>
          <a:prstGeom prst="roundRect">
            <a:avLst>
              <a:gd name="adj" fmla="val 830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257087" y="4566841"/>
            <a:ext cx="2060575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0,970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2257087" y="5074841"/>
            <a:ext cx="206057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566900" y="4357291"/>
            <a:ext cx="2292350" cy="1147233"/>
          </a:xfrm>
          <a:prstGeom prst="roundRect">
            <a:avLst>
              <a:gd name="adj" fmla="val 830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4682788" y="4566841"/>
            <a:ext cx="2060575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0,901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4682788" y="5074841"/>
            <a:ext cx="2060575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15500" y="8652933"/>
            <a:ext cx="7358063" cy="52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centenas de árvores fracas em um classificador robusto e pouco sensível a outliers.</a:t>
            </a:r>
            <a:endParaRPr lang="en-US" sz="17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 suas fórmulas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60600"/>
            <a:ext cx="8724900" cy="7302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2260600"/>
            <a:ext cx="8724900" cy="42333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2626783"/>
            <a:ext cx="88011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9700" y="3098800"/>
            <a:ext cx="3924300" cy="903817"/>
          </a:xfrm>
          <a:prstGeom prst="roundRect">
            <a:avLst>
              <a:gd name="adj" fmla="val 843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9617" y="3259667"/>
            <a:ext cx="3920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9617" y="3570817"/>
            <a:ext cx="3145572" cy="309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(TP+TN) / (TP+TN+FP+FN)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486400" y="3098800"/>
            <a:ext cx="3924300" cy="903817"/>
          </a:xfrm>
          <a:prstGeom prst="roundRect">
            <a:avLst>
              <a:gd name="adj" fmla="val 843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6317" y="3259667"/>
            <a:ext cx="3920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6317" y="3570817"/>
            <a:ext cx="1622028" cy="309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/ (TP + FP)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09700" y="4155017"/>
            <a:ext cx="3924300" cy="903817"/>
          </a:xfrm>
          <a:prstGeom prst="roundRect">
            <a:avLst>
              <a:gd name="adj" fmla="val 843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9617" y="4315883"/>
            <a:ext cx="3920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89617" y="4627033"/>
            <a:ext cx="1659467" cy="309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/ (TP + FN)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486400" y="4155017"/>
            <a:ext cx="3924300" cy="903817"/>
          </a:xfrm>
          <a:prstGeom prst="roundRect">
            <a:avLst>
              <a:gd name="adj" fmla="val 843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6317" y="4315883"/>
            <a:ext cx="3920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6317" y="4627033"/>
            <a:ext cx="2048007" cy="309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(P · R) / (P + R)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09700" y="5230284"/>
            <a:ext cx="8001000" cy="918633"/>
          </a:xfrm>
          <a:prstGeom prst="roundRect">
            <a:avLst>
              <a:gd name="adj" fmla="val 8295"/>
            </a:avLst>
          </a:prstGeom>
          <a:solidFill>
            <a:srgbClr val="E7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1619250" y="5401734"/>
            <a:ext cx="7821930" cy="61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</a:t>
            </a:r>
            <a:pPr algn="l" indent="0" marL="0">
              <a:buNone/>
            </a:pP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área sob a curva TPR × FPR; mede a capacidade de </a:t>
            </a:r>
            <a:pPr algn="l" indent="0" marL="0">
              <a:buNone/>
            </a:pPr>
            <a:r>
              <a:rPr lang="en-US" sz="1725" b="1" dirty="0">
                <a:solidFill>
                  <a:srgbClr val="0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ranquear probabilidades </a:t>
            </a:r>
            <a:pPr algn="l" indent="0" marL="0">
              <a:buNone/>
            </a:pP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independente do limiar.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2260600"/>
            <a:ext cx="7124700" cy="7302500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15550" y="2260600"/>
            <a:ext cx="7124700" cy="4233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0" y="2626783"/>
            <a:ext cx="704088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C26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77500" y="3098800"/>
            <a:ext cx="6400800" cy="999860"/>
          </a:xfrm>
          <a:prstGeom prst="roundRect">
            <a:avLst>
              <a:gd name="adj" fmla="val 762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5517" y="3278717"/>
            <a:ext cx="656124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95517" y="3589867"/>
            <a:ext cx="99258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(1/n) Σ |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611902" y="3589867"/>
            <a:ext cx="2148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750543" y="3690144"/>
            <a:ext cx="136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25" dirty="0"/>
          </a:p>
        </p:txBody>
      </p:sp>
      <p:sp>
        <p:nvSpPr>
          <p:cNvPr id="30" name="Text 28"/>
          <p:cNvSpPr/>
          <p:nvPr/>
        </p:nvSpPr>
        <p:spPr>
          <a:xfrm>
            <a:off x="11870664" y="3589867"/>
            <a:ext cx="23561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089739" y="3589867"/>
            <a:ext cx="2148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ŷ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228380" y="3690144"/>
            <a:ext cx="136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25" dirty="0"/>
          </a:p>
        </p:txBody>
      </p:sp>
      <p:sp>
        <p:nvSpPr>
          <p:cNvPr id="33" name="Text 31"/>
          <p:cNvSpPr/>
          <p:nvPr/>
        </p:nvSpPr>
        <p:spPr>
          <a:xfrm>
            <a:off x="12288837" y="3589867"/>
            <a:ext cx="16906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0" y="4251061"/>
            <a:ext cx="6400800" cy="1048544"/>
          </a:xfrm>
          <a:prstGeom prst="roundRect">
            <a:avLst>
              <a:gd name="adj" fmla="val 7267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5517" y="4430977"/>
            <a:ext cx="656124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95517" y="4790810"/>
            <a:ext cx="125121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√( (1/n) Σ(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870531" y="4790810"/>
            <a:ext cx="2148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009173" y="4891088"/>
            <a:ext cx="136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25" dirty="0"/>
          </a:p>
        </p:txBody>
      </p:sp>
      <p:sp>
        <p:nvSpPr>
          <p:cNvPr id="39" name="Text 37"/>
          <p:cNvSpPr/>
          <p:nvPr/>
        </p:nvSpPr>
        <p:spPr>
          <a:xfrm>
            <a:off x="12129293" y="4790810"/>
            <a:ext cx="2356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348368" y="4790810"/>
            <a:ext cx="2148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ŷ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487011" y="4891088"/>
            <a:ext cx="136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25" dirty="0"/>
          </a:p>
        </p:txBody>
      </p:sp>
      <p:sp>
        <p:nvSpPr>
          <p:cNvPr id="42" name="Text 40"/>
          <p:cNvSpPr/>
          <p:nvPr/>
        </p:nvSpPr>
        <p:spPr>
          <a:xfrm>
            <a:off x="12547468" y="4790810"/>
            <a:ext cx="16906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640337" y="4742127"/>
            <a:ext cx="1915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25" dirty="0"/>
          </a:p>
        </p:txBody>
      </p:sp>
      <p:sp>
        <p:nvSpPr>
          <p:cNvPr id="44" name="Text 42"/>
          <p:cNvSpPr/>
          <p:nvPr/>
        </p:nvSpPr>
        <p:spPr>
          <a:xfrm>
            <a:off x="12815358" y="4790810"/>
            <a:ext cx="16920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77500" y="5452004"/>
            <a:ext cx="6400800" cy="999860"/>
          </a:xfrm>
          <a:prstGeom prst="roundRect">
            <a:avLst>
              <a:gd name="adj" fmla="val 7621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95517" y="5631921"/>
            <a:ext cx="656124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695517" y="5943071"/>
            <a:ext cx="83211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1 − (SS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51431" y="6043348"/>
            <a:ext cx="3496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</a:t>
            </a:r>
            <a:endParaRPr lang="en-US" sz="1625" dirty="0"/>
          </a:p>
        </p:txBody>
      </p:sp>
      <p:sp>
        <p:nvSpPr>
          <p:cNvPr id="49" name="Text 47"/>
          <p:cNvSpPr/>
          <p:nvPr/>
        </p:nvSpPr>
        <p:spPr>
          <a:xfrm>
            <a:off x="11784542" y="5943071"/>
            <a:ext cx="5300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SS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2238434" y="6043348"/>
            <a:ext cx="3299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5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</a:t>
            </a:r>
            <a:endParaRPr lang="en-US" sz="1625" dirty="0"/>
          </a:p>
        </p:txBody>
      </p:sp>
      <p:sp>
        <p:nvSpPr>
          <p:cNvPr id="51" name="Text 49"/>
          <p:cNvSpPr/>
          <p:nvPr/>
        </p:nvSpPr>
        <p:spPr>
          <a:xfrm>
            <a:off x="12492170" y="5943071"/>
            <a:ext cx="16906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0477500" y="6604265"/>
            <a:ext cx="6592824" cy="362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pPr algn="l" indent="0" marL="0">
              <a:lnSpc>
                <a:spcPct val="140000"/>
              </a:lnSpc>
              <a:buNone/>
            </a:pPr>
            <a:r>
              <a:rPr lang="en-US" sz="1313" baseline="-40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Σ(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pPr algn="l" indent="0" marL="0">
              <a:lnSpc>
                <a:spcPct val="140000"/>
              </a:lnSpc>
              <a:buNone/>
            </a:pPr>
            <a:r>
              <a:rPr lang="en-US" sz="1313" baseline="-40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ŷ</a:t>
            </a:r>
            <a:pPr algn="l" indent="0" marL="0">
              <a:lnSpc>
                <a:spcPct val="140000"/>
              </a:lnSpc>
              <a:buNone/>
            </a:pPr>
            <a:r>
              <a:rPr lang="en-US" sz="1313" baseline="-40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)² · SS</a:t>
            </a:r>
            <a:pPr algn="l" indent="0" marL="0">
              <a:lnSpc>
                <a:spcPct val="140000"/>
              </a:lnSpc>
              <a:buNone/>
            </a:pPr>
            <a:r>
              <a:rPr lang="en-US" sz="1313" baseline="-40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Σ(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pPr algn="l" indent="0" marL="0">
              <a:lnSpc>
                <a:spcPct val="140000"/>
              </a:lnSpc>
              <a:buNone/>
            </a:pPr>
            <a:r>
              <a:rPr lang="en-US" sz="1313" baseline="-40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ȳ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)²</a:t>
            </a:r>
            <a:endParaRPr lang="en-US" sz="15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dos quatro modelos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8700"/>
            <a:ext cx="7727818" cy="3522133"/>
          </a:xfrm>
          <a:prstGeom prst="roundRect">
            <a:avLst>
              <a:gd name="adj" fmla="val 2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2298700"/>
            <a:ext cx="7727818" cy="50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798233"/>
            <a:ext cx="772781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2451100"/>
            <a:ext cx="2284968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88678" y="2451100"/>
            <a:ext cx="1428141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86989" y="2451100"/>
            <a:ext cx="1428141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85299" y="2451100"/>
            <a:ext cx="1428141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83603" y="2451100"/>
            <a:ext cx="1428287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47750" y="3750733"/>
            <a:ext cx="7727818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3016250"/>
            <a:ext cx="2153444" cy="563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88678" y="31474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0,765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6989" y="31474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85299" y="31474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83603" y="3147483"/>
            <a:ext cx="142828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3759200"/>
            <a:ext cx="7727818" cy="69003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4440767"/>
            <a:ext cx="7727818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" y="3968750"/>
            <a:ext cx="228496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88678" y="3968750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0,765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86989" y="3968750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85299" y="3968750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0,784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83603" y="3968750"/>
            <a:ext cx="142828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5130800"/>
            <a:ext cx="7727818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7" name="Text 25"/>
          <p:cNvSpPr/>
          <p:nvPr/>
        </p:nvSpPr>
        <p:spPr>
          <a:xfrm>
            <a:off x="1276350" y="4658783"/>
            <a:ext cx="228496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</a:t>
            </a:r>
            <a:pPr algn="l" indent="0" marL="0"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(K=5)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88678" y="46587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0,857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86989" y="46587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85299" y="4658783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83603" y="4658783"/>
            <a:ext cx="142828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0,938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5139267"/>
            <a:ext cx="7727818" cy="681567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Text 31"/>
          <p:cNvSpPr/>
          <p:nvPr/>
        </p:nvSpPr>
        <p:spPr>
          <a:xfrm>
            <a:off x="1276350" y="5348817"/>
            <a:ext cx="228496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88678" y="5348817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86989" y="5348817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85299" y="5348817"/>
            <a:ext cx="142814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83603" y="5348817"/>
            <a:ext cx="1428287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0,970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56568" y="2298700"/>
            <a:ext cx="8083682" cy="7226300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518518" y="2622550"/>
            <a:ext cx="809576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por modelo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518518" y="2916767"/>
            <a:ext cx="809576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0 – 1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518518" y="4730750"/>
            <a:ext cx="1540338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Reg. Logística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6330083" y="4730750"/>
            <a:ext cx="624417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0,771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9518518" y="5052483"/>
            <a:ext cx="7359782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9518518" y="5052483"/>
            <a:ext cx="5674387" cy="2857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9518518" y="5566833"/>
            <a:ext cx="1195652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16330083" y="5566833"/>
            <a:ext cx="624417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0,784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9518518" y="5888567"/>
            <a:ext cx="7359782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48" name="Shape 46"/>
          <p:cNvSpPr/>
          <p:nvPr/>
        </p:nvSpPr>
        <p:spPr>
          <a:xfrm>
            <a:off x="9518518" y="5888567"/>
            <a:ext cx="5770033" cy="2857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49" name="Text 47"/>
          <p:cNvSpPr/>
          <p:nvPr/>
        </p:nvSpPr>
        <p:spPr>
          <a:xfrm>
            <a:off x="9518518" y="6402917"/>
            <a:ext cx="114128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</a:t>
            </a:r>
            <a:pPr algn="l" indent="0" marL="0">
              <a:buNone/>
            </a:pPr>
            <a:r>
              <a:rPr lang="en-US" sz="17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(K=5)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16330083" y="6402917"/>
            <a:ext cx="624417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0,863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9518518" y="6724650"/>
            <a:ext cx="7359782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9518518" y="6724650"/>
            <a:ext cx="6351455" cy="28575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9518518" y="7239000"/>
            <a:ext cx="176706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16330083" y="7239000"/>
            <a:ext cx="624417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0,899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9518518" y="7560733"/>
            <a:ext cx="7359782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9518518" y="7560733"/>
            <a:ext cx="6616436" cy="2857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4295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C26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COMPLEMENTAR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11336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de money_diff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051050"/>
            <a:ext cx="4036351" cy="15494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33500" y="2317750"/>
            <a:ext cx="38113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 </a:t>
            </a:r>
            <a:pPr algn="l" indent="0" marL="0">
              <a:buNone/>
            </a:pPr>
            <a:r>
              <a:rPr lang="en-US" sz="14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333500" y="2722033"/>
            <a:ext cx="3464851" cy="611717"/>
          </a:xfrm>
          <a:prstGeom prst="roundRect">
            <a:avLst>
              <a:gd name="adj" fmla="val 12457"/>
            </a:avLst>
          </a:prstGeom>
          <a:solidFill>
            <a:srgbClr val="F8FAFC"/>
          </a:solidFill>
          <a:ln w="8467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1444" y="2863850"/>
            <a:ext cx="320896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ŷ </a:t>
            </a:r>
            <a:pPr algn="ctr" indent="0" marL="0">
              <a:buNone/>
            </a:pPr>
            <a:r>
              <a:rPr lang="en-US" sz="19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= β₀ + β</a:t>
            </a:r>
            <a:pPr algn="ctr" indent="0" marL="0">
              <a:buNone/>
            </a:pPr>
            <a:r>
              <a:rPr lang="en-US" sz="1625" baseline="30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algn="ctr" indent="0" marL="0">
              <a:buNone/>
            </a:pPr>
            <a:r>
              <a:rPr lang="en-US" sz="1950" dirty="0">
                <a:solidFill>
                  <a:srgbClr val="0F172A"/>
                </a:solidFill>
                <a:highlight>
                  <a:srgbClr val="F8FAF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93651" y="2051050"/>
            <a:ext cx="4036351" cy="15494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9401" y="2317750"/>
            <a:ext cx="38113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579401" y="2722033"/>
            <a:ext cx="356879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 árvores para valor contínuo — média das predições.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3829050"/>
            <a:ext cx="8282252" cy="1913467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47750" y="3829050"/>
            <a:ext cx="8282252" cy="5249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4345517"/>
            <a:ext cx="828225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3981450"/>
            <a:ext cx="2964696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3925398" y="3981450"/>
            <a:ext cx="18530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610007" y="3981450"/>
            <a:ext cx="1852917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7294470" y="3981450"/>
            <a:ext cx="18530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47750" y="5044017"/>
            <a:ext cx="8282252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314450" y="4563533"/>
            <a:ext cx="296469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3925398" y="4563533"/>
            <a:ext cx="1853062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4.794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5610007" y="4563533"/>
            <a:ext cx="1852917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6.944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294470" y="4563533"/>
            <a:ext cx="1853062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0,689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5052483"/>
            <a:ext cx="8282252" cy="690033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1314450" y="5262033"/>
            <a:ext cx="296469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3925398" y="5262033"/>
            <a:ext cx="1853062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3.440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5610007" y="5262033"/>
            <a:ext cx="1852917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5.744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7294470" y="5262033"/>
            <a:ext cx="1853062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0,787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5971117"/>
            <a:ext cx="8282252" cy="1032404"/>
          </a:xfrm>
          <a:prstGeom prst="rect">
            <a:avLst/>
          </a:prstGeom>
          <a:solidFill>
            <a:srgbClr val="E7F1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750" y="5971117"/>
            <a:ext cx="42333" cy="1032404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1" name="Text 29"/>
          <p:cNvSpPr/>
          <p:nvPr/>
        </p:nvSpPr>
        <p:spPr>
          <a:xfrm>
            <a:off x="1356783" y="6180667"/>
            <a:ext cx="7954986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Exclusão de </a:t>
            </a:r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0A3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ct_money, t_money, money_diff, money_ratio </a:t>
            </a:r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 treino (REGRESSION_EXCLUDE) para evitar leakage do alvo.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9711002" y="2051050"/>
            <a:ext cx="7529248" cy="7349067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86" b="-1886"/>
          <a:stretch/>
        </p:blipFill>
        <p:spPr>
          <a:xfrm>
            <a:off x="9711002" y="2051050"/>
            <a:ext cx="7529248" cy="734906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334540" y="9495367"/>
            <a:ext cx="8282173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real × previsto (money_diff)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2766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 interpretação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184400"/>
            <a:ext cx="5245100" cy="5496719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571" b="-1571"/>
          <a:stretch/>
        </p:blipFill>
        <p:spPr>
          <a:xfrm>
            <a:off x="1047750" y="2184400"/>
            <a:ext cx="5245100" cy="5496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5495" y="7757319"/>
            <a:ext cx="576961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ROC — classificação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6521450" y="2184400"/>
            <a:ext cx="5245100" cy="5496719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9524" b="-9524"/>
          <a:stretch/>
        </p:blipFill>
        <p:spPr>
          <a:xfrm>
            <a:off x="6521450" y="2184400"/>
            <a:ext cx="5245100" cy="54967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9195" y="7757319"/>
            <a:ext cx="576961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confusão — RF</a:t>
            </a:r>
            <a:endParaRPr lang="en-US" sz="1425" dirty="0"/>
          </a:p>
        </p:txBody>
      </p:sp>
      <p:sp>
        <p:nvSpPr>
          <p:cNvPr id="11" name="Shape 7"/>
          <p:cNvSpPr/>
          <p:nvPr/>
        </p:nvSpPr>
        <p:spPr>
          <a:xfrm>
            <a:off x="11995150" y="2184400"/>
            <a:ext cx="5245100" cy="5496719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8467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4922" b="-34922"/>
          <a:stretch/>
        </p:blipFill>
        <p:spPr>
          <a:xfrm>
            <a:off x="11995150" y="2184400"/>
            <a:ext cx="5245100" cy="54967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32895" y="7757319"/>
            <a:ext cx="576961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Importância de features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047750" y="8216636"/>
            <a:ext cx="5245100" cy="1346465"/>
          </a:xfrm>
          <a:prstGeom prst="roundRect">
            <a:avLst>
              <a:gd name="adj" fmla="val 70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1314450" y="8445236"/>
            <a:ext cx="51828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RF venceu</a:t>
            </a:r>
            <a:endParaRPr lang="en-US" sz="1725" dirty="0"/>
          </a:p>
        </p:txBody>
      </p:sp>
      <p:sp>
        <p:nvSpPr>
          <p:cNvPr id="16" name="Text 11"/>
          <p:cNvSpPr/>
          <p:nvPr/>
        </p:nvSpPr>
        <p:spPr>
          <a:xfrm>
            <a:off x="1314450" y="8747919"/>
            <a:ext cx="4853051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Interações não lineares entre features categóricas e numéricas.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1450" y="8216636"/>
            <a:ext cx="5245100" cy="1346465"/>
          </a:xfrm>
          <a:prstGeom prst="roundRect">
            <a:avLst>
              <a:gd name="adj" fmla="val 70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788150" y="8445236"/>
            <a:ext cx="51828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mais relevantes</a:t>
            </a:r>
            <a:endParaRPr lang="en-US" sz="1725" dirty="0"/>
          </a:p>
        </p:txBody>
      </p:sp>
      <p:sp>
        <p:nvSpPr>
          <p:cNvPr id="19" name="Text 14"/>
          <p:cNvSpPr/>
          <p:nvPr/>
        </p:nvSpPr>
        <p:spPr>
          <a:xfrm>
            <a:off x="6788150" y="8747919"/>
            <a:ext cx="4853051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Economia, armamento e mapa lideram a importância.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11995150" y="8216636"/>
            <a:ext cx="5245100" cy="1346465"/>
          </a:xfrm>
          <a:prstGeom prst="roundRect">
            <a:avLst>
              <a:gd name="adj" fmla="val 7074"/>
            </a:avLst>
          </a:prstGeom>
          <a:solidFill>
            <a:srgbClr val="0F172A"/>
          </a:solidFill>
          <a:ln/>
        </p:spPr>
      </p:sp>
      <p:sp>
        <p:nvSpPr>
          <p:cNvPr id="21" name="Text 16"/>
          <p:cNvSpPr/>
          <p:nvPr/>
        </p:nvSpPr>
        <p:spPr>
          <a:xfrm>
            <a:off x="12261850" y="8445236"/>
            <a:ext cx="51828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importa, mas não basta</a:t>
            </a:r>
            <a:endParaRPr lang="en-US" sz="1725" dirty="0"/>
          </a:p>
        </p:txBody>
      </p:sp>
      <p:sp>
        <p:nvSpPr>
          <p:cNvPr id="22" name="Text 17"/>
          <p:cNvSpPr/>
          <p:nvPr/>
        </p:nvSpPr>
        <p:spPr>
          <a:xfrm>
            <a:off x="12261850" y="8747919"/>
            <a:ext cx="5182870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 →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CRÍTICA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do estudo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55850"/>
            <a:ext cx="7962900" cy="3451225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0" y="27368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2150" y="2698750"/>
            <a:ext cx="6904818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2019–2020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62150" y="3069167"/>
            <a:ext cx="6904818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CS:GO, não CS2 — meta e economia mudaram desde então.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355850"/>
            <a:ext cx="7962900" cy="3451225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350" y="2736850"/>
            <a:ext cx="323850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91750" y="2698750"/>
            <a:ext cx="7334250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ID de round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0191750" y="3069167"/>
            <a:ext cx="68675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Possível overlap entre treino e teste (snapshots do mesmo round).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47750" y="6073775"/>
            <a:ext cx="7962900" cy="3451225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750" y="6454775"/>
            <a:ext cx="323850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2150" y="6416675"/>
            <a:ext cx="6112894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em subamostra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962150" y="6787092"/>
            <a:ext cx="6112894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Treinada em 6.000 exemplos por custo computacional.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277350" y="6073775"/>
            <a:ext cx="7962900" cy="3451225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8350" y="6454775"/>
            <a:ext cx="323850" cy="3238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91750" y="6416675"/>
            <a:ext cx="7334250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tier é proxy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0191750" y="6787092"/>
            <a:ext cx="68675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$/jogador; o bônus de derrota (loss bonus) está ausente.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alcançado</a:t>
            </a:r>
            <a:endParaRPr lang="en-US" sz="4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2356908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5900" y="2355850"/>
            <a:ext cx="665400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EDA, pré-processamento e pipeline reproduzível (Colab)</a:t>
            </a:r>
            <a:endParaRPr lang="en-US" sz="202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0" y="281622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5900" y="2815167"/>
            <a:ext cx="632984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sistemática de quatro modelos clássicos</a:t>
            </a:r>
            <a:endParaRPr lang="en-US" sz="20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750" y="327554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3274483"/>
            <a:ext cx="663492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padronizada por métricas e validação cruzada</a:t>
            </a:r>
            <a:endParaRPr lang="en-US" sz="2025" dirty="0"/>
          </a:p>
        </p:txBody>
      </p:sp>
      <p:sp>
        <p:nvSpPr>
          <p:cNvPr id="11" name="Shape 6"/>
          <p:cNvSpPr/>
          <p:nvPr/>
        </p:nvSpPr>
        <p:spPr>
          <a:xfrm>
            <a:off x="1047750" y="3867150"/>
            <a:ext cx="8208830" cy="1625600"/>
          </a:xfrm>
          <a:prstGeom prst="roundRect">
            <a:avLst>
              <a:gd name="adj" fmla="val 5859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228600" dist="76200" dir="5400000">
              <a:srgbClr val="047857">
                <a:alpha val="3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1371600" y="4152900"/>
            <a:ext cx="831724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modelo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371600" y="4453467"/>
            <a:ext cx="8317243" cy="45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— F1 0,899 · AUC 0,970</a:t>
            </a:r>
            <a:endParaRPr lang="en-US" sz="2850" dirty="0"/>
          </a:p>
        </p:txBody>
      </p:sp>
      <p:sp>
        <p:nvSpPr>
          <p:cNvPr id="14" name="Text 9"/>
          <p:cNvSpPr/>
          <p:nvPr/>
        </p:nvSpPr>
        <p:spPr>
          <a:xfrm>
            <a:off x="1371600" y="4944534"/>
            <a:ext cx="831724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ML agrega valor real sobre a heurística de economia (~60% → ~90%).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637580" y="2355850"/>
            <a:ext cx="7602670" cy="7169150"/>
          </a:xfrm>
          <a:prstGeom prst="roundRect">
            <a:avLst>
              <a:gd name="adj" fmla="val 1329"/>
            </a:avLst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10018580" y="2736850"/>
            <a:ext cx="7524737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0" kern="0" dirty="0">
                <a:solidFill>
                  <a:srgbClr val="4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</a:t>
            </a:r>
            <a:endParaRPr lang="en-US" sz="1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580" y="3259667"/>
            <a:ext cx="266700" cy="266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37680" y="3221567"/>
            <a:ext cx="4694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Estender para </a:t>
            </a:r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CS2 </a:t>
            </a:r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economia atual</a:t>
            </a:r>
            <a:endParaRPr lang="en-US" sz="1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8580" y="3774017"/>
            <a:ext cx="266700" cy="266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437680" y="3735917"/>
            <a:ext cx="58883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agrupado por round </a:t>
            </a:r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eliminar overlap</a:t>
            </a:r>
            <a:endParaRPr lang="en-US" sz="1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18580" y="4288367"/>
            <a:ext cx="266700" cy="2667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37680" y="4250267"/>
            <a:ext cx="651103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</a:t>
            </a:r>
            <a:pPr algn="l" indent="0" marL="0"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probabilidade de vitória em tempo real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13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4817"/>
            <a:ext cx="17811750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(ABNT resumido)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317750"/>
            <a:ext cx="5685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DOMÍNIO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047750" y="2717800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LILLELUND, C.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CS:GO Round Winner Classification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Kaggle, 2020.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47750" y="3475831"/>
            <a:ext cx="5685790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Skybox AI Challenge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Conjunto de demos profissionais.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3940572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HIEMSTRA. Abordagem Bayesiana para predição de round, 2021.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4698603"/>
            <a:ext cx="5685790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GHOSH.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CSGOPredictor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Repositório GitHub.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47750" y="5163344"/>
            <a:ext cx="5685790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XENOPOULOS, P. et al. CS:GO analytics.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KDD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2022.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59550" y="2317750"/>
            <a:ext cx="5685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CLÁSSICOS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559550" y="2717800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BREIMAN, L. Random Forests.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2001.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9550" y="3475831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CORTES, C.; VAPNIK, V. Support-Vector Networks.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1995.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9550" y="4233863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COVER, T.; HART, P. Nearest Neighbor Pattern Classification.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1967.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071350" y="2317750"/>
            <a:ext cx="5685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75" kern="0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2071350" y="2717800"/>
            <a:ext cx="5323967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PEDREGOSA, F. et al. Scikit-learn: Machine Learning in Python.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JMLR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2011.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071350" y="3628231"/>
            <a:ext cx="5168900" cy="2197365"/>
          </a:xfrm>
          <a:prstGeom prst="roundRect">
            <a:avLst>
              <a:gd name="adj" fmla="val 43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38050" y="3875881"/>
            <a:ext cx="5099050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38050" y="4191265"/>
            <a:ext cx="4774565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github.com/carloseduardob/ projeto-machine-learning-csgo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338050" y="4892146"/>
            <a:ext cx="477456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 → carloseduardob/…/COLAB_PROJETO-COMPLETO.ipynb → Runtime → Executar tudo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2026-06-25T17:57:40Z</dcterms:created>
  <dcterms:modified xsi:type="dcterms:W3CDTF">2026-06-25T17:57:40Z</dcterms:modified>
</cp:coreProperties>
</file>